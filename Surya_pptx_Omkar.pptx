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71" r:id="rId6"/>
    <p:sldId id="264" r:id="rId7"/>
    <p:sldId id="272" r:id="rId8"/>
    <p:sldId id="273" r:id="rId9"/>
    <p:sldId id="274" r:id="rId10"/>
    <p:sldId id="265" r:id="rId11"/>
    <p:sldId id="267" r:id="rId12"/>
    <p:sldId id="269" r:id="rId13"/>
    <p:sldId id="266" r:id="rId14"/>
    <p:sldId id="268" r:id="rId15"/>
    <p:sldId id="258" r:id="rId16"/>
    <p:sldId id="259" r:id="rId17"/>
    <p:sldId id="261" r:id="rId18"/>
    <p:sldId id="2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2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1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3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96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7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8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82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82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1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1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02055-9672-4D14-A2A7-0339A4E99FCF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C6CD5-63AA-48AF-938E-2DA188DE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1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3.png"/><Relationship Id="rId3" Type="http://schemas.openxmlformats.org/officeDocument/2006/relationships/image" Target="../media/image23.png"/><Relationship Id="rId7" Type="http://schemas.openxmlformats.org/officeDocument/2006/relationships/image" Target="../media/image5.jpeg"/><Relationship Id="rId12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25.png"/><Relationship Id="rId10" Type="http://schemas.openxmlformats.org/officeDocument/2006/relationships/image" Target="../media/image7.png"/><Relationship Id="rId4" Type="http://schemas.openxmlformats.org/officeDocument/2006/relationships/image" Target="../media/image24.png"/><Relationship Id="rId9" Type="http://schemas.openxmlformats.org/officeDocument/2006/relationships/image" Target="../media/image6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1.png"/><Relationship Id="rId12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6.png"/><Relationship Id="rId12" Type="http://schemas.openxmlformats.org/officeDocument/2006/relationships/image" Target="../media/image3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1.png"/><Relationship Id="rId10" Type="http://schemas.openxmlformats.org/officeDocument/2006/relationships/image" Target="../media/image32.png"/><Relationship Id="rId4" Type="http://schemas.openxmlformats.org/officeDocument/2006/relationships/image" Target="../media/image29.jpe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3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6975" y="2305318"/>
            <a:ext cx="11088710" cy="2060620"/>
          </a:xfrm>
          <a:prstGeom prst="rect">
            <a:avLst/>
          </a:prstGeom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9003" t="13679" r="10310" b="21083"/>
          <a:stretch/>
        </p:blipFill>
        <p:spPr>
          <a:xfrm>
            <a:off x="1716324" y="3711422"/>
            <a:ext cx="347731" cy="44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4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0.00185 L 2.08333E-6 -0.00139 L 0.02877 -2.59259E-6 C 0.03841 0.0007 0.04791 0.00347 0.05768 0.00347 C 0.07083 0.00347 0.08372 0.00093 0.09687 -2.59259E-6 L 0.12669 -0.00185 L 0.1444 -0.01319 C 0.147 -0.01458 0.14961 -0.01528 0.15221 -0.01666 C 0.16354 -0.02315 0.14844 -0.01736 0.16146 -0.02153 C 0.17578 -0.03287 0.16406 -0.02453 0.18021 -0.03333 C 0.18203 -0.03426 0.18359 -0.03541 0.18541 -0.0368 C 0.18646 -0.0375 0.1875 -0.03912 0.18867 -0.03981 C 0.19062 -0.04074 0.19258 -0.04074 0.19479 -0.04143 C 0.19948 -0.05092 0.19453 -0.04328 0.20065 -0.04815 C 0.20143 -0.04884 0.20221 -0.05092 0.20325 -0.05162 C 0.20482 -0.05254 0.20664 -0.05231 0.2082 -0.05324 C 0.2151 -0.05717 0.22174 -0.06296 0.22877 -0.06643 L 0.23216 -0.06805 C 0.23646 -0.07361 0.23554 -0.07291 0.24232 -0.07824 C 0.24349 -0.07893 0.24453 -0.07893 0.24583 -0.07963 C 0.24687 -0.08055 0.24791 -0.08194 0.24922 -0.08287 C 0.25026 -0.08356 0.2513 -0.08403 0.2526 -0.08472 C 0.25781 -0.0868 0.26028 -0.0868 0.26614 -0.08773 L 0.29752 -0.08472 C 0.29987 -0.08403 0.30221 -0.08194 0.30443 -0.08125 C 0.30781 -0.08032 0.3112 -0.08032 0.31458 -0.07963 C 0.33411 -0.07569 0.29687 -0.08055 0.33672 -0.07639 C 0.35859 -0.07685 0.38047 -0.07639 0.40234 -0.07824 C 0.40429 -0.07824 0.40625 -0.08032 0.4082 -0.08125 L 0.42786 -0.0912 C 0.42982 -0.09236 0.43177 -0.09328 0.43372 -0.09467 C 0.43711 -0.09676 0.44101 -0.09722 0.44401 -0.10139 C 0.44492 -0.10231 0.44557 -0.1037 0.44648 -0.1044 C 0.44948 -0.10717 0.44909 -0.10509 0.45247 -0.10787 C 0.45482 -0.10949 0.4569 -0.11273 0.45924 -0.11435 C 0.46068 -0.11551 0.46211 -0.11551 0.46354 -0.1162 C 0.46562 -0.11713 0.46758 -0.11852 0.46953 -0.11921 C 0.47096 -0.1199 0.47239 -0.12037 0.47383 -0.12106 C 0.47526 -0.12199 0.47643 -0.12384 0.47799 -0.1243 C 0.48047 -0.12546 0.4832 -0.12569 0.48568 -0.12615 C 0.50013 -0.12685 0.51458 -0.12708 0.52903 -0.12754 C 0.53476 -0.12916 0.54049 -0.13055 0.54609 -0.13264 C 0.54752 -0.1331 0.54896 -0.13403 0.55039 -0.13449 C 0.56406 -0.1375 0.55521 -0.13403 0.56471 -0.1375 C 0.56614 -0.13819 0.56758 -0.13865 0.56901 -0.13935 C 0.575 -0.14213 0.58086 -0.14537 0.58685 -0.14745 C 0.59062 -0.14884 0.60456 -0.15139 0.60989 -0.15231 C 0.61562 -0.15509 0.62122 -0.15764 0.62695 -0.16065 C 0.62812 -0.16134 0.62903 -0.16319 0.63034 -0.16412 C 0.63177 -0.16528 0.6332 -0.16643 0.6345 -0.16759 C 0.63776 -0.16967 0.63672 -0.16852 0.64062 -0.1706 C 0.64127 -0.17129 0.64219 -0.17199 0.6431 -0.17245 C 0.64414 -0.17315 0.64531 -0.17338 0.64648 -0.17407 C 0.64818 -0.17523 0.64987 -0.17615 0.65156 -0.17731 C 0.65638 -0.18032 0.6539 -0.17754 0.65924 -0.1824 C 0.66146 -0.18449 0.6638 -0.18703 0.66614 -0.18889 C 0.66679 -0.18958 0.66771 -0.19004 0.66862 -0.19074 C 0.66979 -0.19166 0.672 -0.19375 0.672 -0.19352 L 0.67539 -0.19722 C 0.68138 -0.2 0.68724 -0.20463 0.69323 -0.20555 C 0.72526 -0.21134 0.73984 -0.19653 0.72721 -0.20856 " pathEditMode="relative" rAng="0" ptsTypes="AAAAAAAAAAAAAAAAAAAAAAAAAAAAAAAAAAAAAAAAAAAAAAAAAAAAAAAAAAAAA"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89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8654"/>
            <a:ext cx="11986384" cy="5387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9003" t="13679" r="10310" b="21083"/>
          <a:stretch/>
        </p:blipFill>
        <p:spPr>
          <a:xfrm>
            <a:off x="3101622" y="1505495"/>
            <a:ext cx="347731" cy="44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2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0.00185 L 2.08333E-7 -0.00139 L 0.02878 -3.33333E-6 C 0.03841 0.0007 0.04792 0.00348 0.05768 0.00348 C 0.07083 0.00348 0.08372 0.00093 0.09687 -3.33333E-6 L 0.12669 -0.00185 L 0.1444 -0.01319 C 0.14701 -0.01458 0.14961 -0.01551 0.15221 -0.01666 C 0.16354 -0.02338 0.14844 -0.01759 0.16146 -0.02152 C 0.17578 -0.03287 0.16406 -0.02453 0.18021 -0.03333 C 0.18203 -0.03426 0.18359 -0.03564 0.18542 -0.0368 C 0.18646 -0.03773 0.1875 -0.03912 0.18867 -0.03981 C 0.19062 -0.04097 0.19258 -0.04097 0.19479 -0.04143 C 0.19948 -0.05115 0.19453 -0.04328 0.20065 -0.04814 C 0.20143 -0.04907 0.20221 -0.05115 0.20326 -0.05162 C 0.20482 -0.05254 0.20664 -0.05231 0.2082 -0.05324 C 0.2151 -0.05717 0.22174 -0.06296 0.22878 -0.06643 L 0.23216 -0.06805 C 0.23646 -0.07361 0.23555 -0.07291 0.24232 -0.07824 C 0.24349 -0.07893 0.24453 -0.07893 0.24583 -0.07963 C 0.24687 -0.08078 0.24792 -0.08194 0.24922 -0.08287 C 0.25026 -0.08379 0.2513 -0.08402 0.2526 -0.08472 C 0.25781 -0.0868 0.26029 -0.0868 0.26615 -0.08773 L 0.29753 -0.08472 C 0.29974 -0.08402 0.30221 -0.08194 0.3043 -0.08125 C 0.30781 -0.08032 0.3112 -0.08032 0.31458 -0.07963 C 0.33398 -0.07569 0.29687 -0.08078 0.33672 -0.07662 C 0.35846 -0.07685 0.38047 -0.07662 0.40234 -0.07824 C 0.4043 -0.07824 0.40625 -0.08032 0.4082 -0.08125 L 0.42786 -0.0912 C 0.42982 -0.09236 0.43177 -0.09328 0.43372 -0.09467 C 0.43711 -0.09676 0.44102 -0.09722 0.44401 -0.10139 C 0.44492 -0.10231 0.44557 -0.1037 0.44648 -0.10439 C 0.44948 -0.10717 0.44909 -0.10509 0.45247 -0.10787 C 0.45482 -0.10949 0.4569 -0.11273 0.45924 -0.11435 C 0.46068 -0.11551 0.46211 -0.11551 0.46354 -0.1162 C 0.46562 -0.11713 0.46758 -0.11852 0.46953 -0.11921 C 0.47096 -0.1199 0.4724 -0.12037 0.47383 -0.12106 C 0.47526 -0.12199 0.47643 -0.12384 0.47799 -0.1243 C 0.48047 -0.12546 0.4832 -0.12569 0.48568 -0.12615 C 0.50013 -0.12685 0.51458 -0.12708 0.52904 -0.12754 C 0.53477 -0.12916 0.54049 -0.13055 0.54609 -0.13264 C 0.54753 -0.1331 0.54896 -0.13402 0.55039 -0.13449 C 0.56406 -0.1375 0.55521 -0.13402 0.56458 -0.1375 C 0.56602 -0.13819 0.56745 -0.13865 0.56888 -0.13958 C 0.575 -0.14213 0.58086 -0.14537 0.58685 -0.14745 C 0.59049 -0.14884 0.60456 -0.15139 0.6099 -0.15231 C 0.61562 -0.15509 0.62122 -0.15764 0.62695 -0.16064 C 0.62812 -0.16134 0.62904 -0.16319 0.63034 -0.16412 C 0.63177 -0.16527 0.6332 -0.16643 0.63451 -0.16759 C 0.63776 -0.16967 0.63672 -0.16852 0.64062 -0.1706 C 0.64128 -0.17129 0.64219 -0.17199 0.6431 -0.17245 C 0.64414 -0.17314 0.64518 -0.17338 0.64648 -0.17407 C 0.64805 -0.17523 0.64987 -0.17615 0.65156 -0.17731 C 0.65638 -0.18032 0.65378 -0.17754 0.65924 -0.1824 C 0.66146 -0.18449 0.6638 -0.18703 0.66615 -0.18889 C 0.66667 -0.18958 0.66771 -0.19004 0.66862 -0.19074 C 0.66979 -0.19166 0.67201 -0.19375 0.67201 -0.19352 L 0.67539 -0.19722 C 0.68138 -0.2 0.68724 -0.20463 0.6931 -0.20555 C 0.72526 -0.21134 0.73971 -0.19652 0.72708 -0.20856 " pathEditMode="relative" rAng="0" ptsTypes="AAAAAAAAAAAAAAAAAAAAAAAAAAAAAAAAAAAAAAAAAAAAAAAAAAAAAAAAAAAAA">
                                      <p:cBhvr>
                                        <p:cTn id="6" dur="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76" y="-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787022" y="671729"/>
            <a:ext cx="14711890" cy="5628477"/>
            <a:chOff x="-743480" y="874929"/>
            <a:chExt cx="14711890" cy="5628477"/>
          </a:xfrm>
        </p:grpSpPr>
        <p:pic>
          <p:nvPicPr>
            <p:cNvPr id="135" name="Picture 1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302372">
              <a:off x="11503027" y="3370114"/>
              <a:ext cx="1504950" cy="1962150"/>
            </a:xfrm>
            <a:prstGeom prst="rect">
              <a:avLst/>
            </a:prstGeom>
          </p:spPr>
        </p:pic>
        <p:sp>
          <p:nvSpPr>
            <p:cNvPr id="181" name="Rounded Rectangle 180"/>
            <p:cNvSpPr/>
            <p:nvPr/>
          </p:nvSpPr>
          <p:spPr>
            <a:xfrm>
              <a:off x="7319386" y="4644513"/>
              <a:ext cx="3888065" cy="1252173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1942788" y="4655527"/>
              <a:ext cx="3759022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46198" y="3515737"/>
              <a:ext cx="11333408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347199" y="4227272"/>
              <a:ext cx="1133240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891195" y="1766690"/>
              <a:ext cx="1456102" cy="2568986"/>
              <a:chOff x="2191555" y="1451582"/>
              <a:chExt cx="985786" cy="1591590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80" r="34380"/>
              <a:stretch/>
            </p:blipFill>
            <p:spPr>
              <a:xfrm flipH="1">
                <a:off x="2191555" y="1451582"/>
                <a:ext cx="891185" cy="159159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40" t="15775" r="5180" b="15118"/>
              <a:stretch/>
            </p:blipFill>
            <p:spPr>
              <a:xfrm rot="16200000" flipV="1">
                <a:off x="2720102" y="2234780"/>
                <a:ext cx="650305" cy="264173"/>
              </a:xfrm>
              <a:prstGeom prst="rect">
                <a:avLst/>
              </a:prstGeom>
            </p:spPr>
          </p:pic>
        </p:grpSp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2832776" y="3669876"/>
              <a:ext cx="347731" cy="449152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1993499" y="3741927"/>
              <a:ext cx="347731" cy="449152"/>
            </a:xfrm>
            <a:prstGeom prst="rect">
              <a:avLst/>
            </a:prstGeom>
          </p:spPr>
        </p:pic>
        <p:sp>
          <p:nvSpPr>
            <p:cNvPr id="51" name="Rectangle 50"/>
            <p:cNvSpPr/>
            <p:nvPr/>
          </p:nvSpPr>
          <p:spPr>
            <a:xfrm flipH="1">
              <a:off x="3998210" y="2345401"/>
              <a:ext cx="141896" cy="18715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3046111" y="2335035"/>
              <a:ext cx="1148029" cy="16129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00" t="12076" r="18184" b="19732"/>
            <a:stretch/>
          </p:blipFill>
          <p:spPr>
            <a:xfrm>
              <a:off x="3332612" y="2274665"/>
              <a:ext cx="624044" cy="561012"/>
            </a:xfrm>
            <a:prstGeom prst="rect">
              <a:avLst/>
            </a:prstGeom>
          </p:spPr>
        </p:pic>
        <p:sp>
          <p:nvSpPr>
            <p:cNvPr id="54" name="Rounded Rectangle 53"/>
            <p:cNvSpPr/>
            <p:nvPr/>
          </p:nvSpPr>
          <p:spPr>
            <a:xfrm rot="16200000">
              <a:off x="2914286" y="2492898"/>
              <a:ext cx="418864" cy="15521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lowchart: Merge 49">
              <a:extLst>
                <a:ext uri="{FF2B5EF4-FFF2-40B4-BE49-F238E27FC236}">
                  <a16:creationId xmlns:a16="http://schemas.microsoft.com/office/drawing/2014/main" xmlns="" id="{64134540-0620-34FF-9D58-4C50DA4C550F}"/>
                </a:ext>
              </a:extLst>
            </p:cNvPr>
            <p:cNvSpPr/>
            <p:nvPr/>
          </p:nvSpPr>
          <p:spPr>
            <a:xfrm rot="1963035" flipV="1">
              <a:off x="3236918" y="2614896"/>
              <a:ext cx="278706" cy="1128434"/>
            </a:xfrm>
            <a:prstGeom prst="flowChartMerg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9" name="Straight Connector 58"/>
            <p:cNvCxnSpPr/>
            <p:nvPr/>
          </p:nvCxnSpPr>
          <p:spPr>
            <a:xfrm flipV="1">
              <a:off x="2347939" y="4768205"/>
              <a:ext cx="1932756" cy="11149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2682712" y="4711305"/>
              <a:ext cx="2427059" cy="13763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/>
            <p:cNvSpPr/>
            <p:nvPr/>
          </p:nvSpPr>
          <p:spPr>
            <a:xfrm>
              <a:off x="2895499" y="5961643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3242597" y="5775258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3588455" y="5601974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3884474" y="5434690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4194140" y="5252924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4503806" y="5066918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4799825" y="4886605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496045" y="4257091"/>
              <a:ext cx="2609499" cy="422027"/>
              <a:chOff x="1414643" y="3456840"/>
              <a:chExt cx="2609499" cy="422027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80" name="Freeform 79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2" name="Group 81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83" name="Freeform 8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86" name="Freeform 85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3635668" y="3461940"/>
                <a:ext cx="388474" cy="401147"/>
                <a:chOff x="8072366" y="4893264"/>
                <a:chExt cx="712983" cy="736242"/>
              </a:xfrm>
            </p:grpSpPr>
            <p:sp>
              <p:nvSpPr>
                <p:cNvPr id="89" name="Freeform 88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6" name="Group 105"/>
            <p:cNvGrpSpPr/>
            <p:nvPr/>
          </p:nvGrpSpPr>
          <p:grpSpPr>
            <a:xfrm>
              <a:off x="4943180" y="4253029"/>
              <a:ext cx="1875370" cy="422027"/>
              <a:chOff x="1414643" y="3456840"/>
              <a:chExt cx="1875370" cy="422027"/>
            </a:xfrm>
          </p:grpSpPr>
          <p:grpSp>
            <p:nvGrpSpPr>
              <p:cNvPr id="107" name="Group 106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17" name="Freeform 116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Oval 117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8" name="Group 107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15" name="Freeform 114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Oval 115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9" name="Group 108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113" name="Freeform 11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Oval 11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9" name="Group 118"/>
            <p:cNvGrpSpPr/>
            <p:nvPr/>
          </p:nvGrpSpPr>
          <p:grpSpPr>
            <a:xfrm>
              <a:off x="7976898" y="4243367"/>
              <a:ext cx="2609499" cy="422027"/>
              <a:chOff x="1414643" y="3456840"/>
              <a:chExt cx="2609499" cy="422027"/>
            </a:xfrm>
          </p:grpSpPr>
          <p:grpSp>
            <p:nvGrpSpPr>
              <p:cNvPr id="120" name="Group 119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30" name="Freeform 129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Oval 130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1" name="Group 120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28" name="Freeform 127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Oval 128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2" name="Group 121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126" name="Freeform 125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Oval 126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3" name="Group 122"/>
              <p:cNvGrpSpPr/>
              <p:nvPr/>
            </p:nvGrpSpPr>
            <p:grpSpPr>
              <a:xfrm>
                <a:off x="3635668" y="3461940"/>
                <a:ext cx="388474" cy="401147"/>
                <a:chOff x="8072366" y="4893264"/>
                <a:chExt cx="712983" cy="736242"/>
              </a:xfrm>
            </p:grpSpPr>
            <p:sp>
              <p:nvSpPr>
                <p:cNvPr id="124" name="Freeform 123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Oval 124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2" name="Group 131"/>
            <p:cNvGrpSpPr/>
            <p:nvPr/>
          </p:nvGrpSpPr>
          <p:grpSpPr>
            <a:xfrm>
              <a:off x="3412266" y="4265736"/>
              <a:ext cx="1105160" cy="408936"/>
              <a:chOff x="1414643" y="3469931"/>
              <a:chExt cx="1105160" cy="408936"/>
            </a:xfrm>
          </p:grpSpPr>
          <p:grpSp>
            <p:nvGrpSpPr>
              <p:cNvPr id="133" name="Group 132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43" name="Freeform 14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Oval 14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41" name="Freeform 140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Oval 141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47" name="Oval 146"/>
            <p:cNvSpPr/>
            <p:nvPr/>
          </p:nvSpPr>
          <p:spPr>
            <a:xfrm>
              <a:off x="2357734" y="5549972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2704832" y="5363587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3050690" y="5190303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/>
            <p:cNvSpPr/>
            <p:nvPr/>
          </p:nvSpPr>
          <p:spPr>
            <a:xfrm>
              <a:off x="3346709" y="5023019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/>
            <p:cNvSpPr/>
            <p:nvPr/>
          </p:nvSpPr>
          <p:spPr>
            <a:xfrm>
              <a:off x="3656375" y="4841253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2" name="Picture 151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14670926">
              <a:off x="4212649" y="4669908"/>
              <a:ext cx="347731" cy="449152"/>
            </a:xfrm>
            <a:prstGeom prst="rect">
              <a:avLst/>
            </a:prstGeom>
          </p:spPr>
        </p:pic>
        <p:pic>
          <p:nvPicPr>
            <p:cNvPr id="154" name="Picture 153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14670926">
              <a:off x="3709995" y="4991063"/>
              <a:ext cx="347731" cy="449152"/>
            </a:xfrm>
            <a:prstGeom prst="rect">
              <a:avLst/>
            </a:prstGeom>
          </p:spPr>
        </p:pic>
        <p:pic>
          <p:nvPicPr>
            <p:cNvPr id="155" name="Picture 154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14670926">
              <a:off x="3208680" y="5300059"/>
              <a:ext cx="347731" cy="449152"/>
            </a:xfrm>
            <a:prstGeom prst="rect">
              <a:avLst/>
            </a:prstGeom>
          </p:spPr>
        </p:pic>
        <p:pic>
          <p:nvPicPr>
            <p:cNvPr id="156" name="Picture 155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14670926">
              <a:off x="2652998" y="5591187"/>
              <a:ext cx="347731" cy="449152"/>
            </a:xfrm>
            <a:prstGeom prst="rect">
              <a:avLst/>
            </a:prstGeom>
          </p:spPr>
        </p:pic>
        <p:sp>
          <p:nvSpPr>
            <p:cNvPr id="158" name="Rectangle 157"/>
            <p:cNvSpPr/>
            <p:nvPr/>
          </p:nvSpPr>
          <p:spPr>
            <a:xfrm flipH="1">
              <a:off x="4638438" y="2352597"/>
              <a:ext cx="236692" cy="112616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4638437" y="2354600"/>
              <a:ext cx="1734451" cy="17896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3" name="Picture 162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23" t="13997" r="30308" b="39524"/>
            <a:stretch/>
          </p:blipFill>
          <p:spPr>
            <a:xfrm>
              <a:off x="4462509" y="1522176"/>
              <a:ext cx="1988614" cy="1017431"/>
            </a:xfrm>
            <a:prstGeom prst="rect">
              <a:avLst/>
            </a:prstGeom>
          </p:spPr>
        </p:pic>
        <p:pic>
          <p:nvPicPr>
            <p:cNvPr id="164" name="Picture 163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32" t="18664" r="15720" b="47886"/>
            <a:stretch/>
          </p:blipFill>
          <p:spPr>
            <a:xfrm>
              <a:off x="5836881" y="2382893"/>
              <a:ext cx="721217" cy="1223492"/>
            </a:xfrm>
            <a:prstGeom prst="rect">
              <a:avLst/>
            </a:prstGeom>
          </p:spPr>
        </p:pic>
        <p:pic>
          <p:nvPicPr>
            <p:cNvPr id="165" name="Picture 164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4322471" y="3704262"/>
              <a:ext cx="347731" cy="449152"/>
            </a:xfrm>
            <a:prstGeom prst="rect">
              <a:avLst/>
            </a:prstGeom>
          </p:spPr>
        </p:pic>
        <p:pic>
          <p:nvPicPr>
            <p:cNvPr id="166" name="Picture 165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5093046" y="3718170"/>
              <a:ext cx="347731" cy="449152"/>
            </a:xfrm>
            <a:prstGeom prst="rect">
              <a:avLst/>
            </a:prstGeom>
          </p:spPr>
        </p:pic>
        <p:sp>
          <p:nvSpPr>
            <p:cNvPr id="169" name="Curved Left Arrow 168"/>
            <p:cNvSpPr/>
            <p:nvPr/>
          </p:nvSpPr>
          <p:spPr>
            <a:xfrm rot="16200000">
              <a:off x="5474142" y="3256683"/>
              <a:ext cx="430815" cy="698387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73" name="Picture 172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95" t="4840" r="18008" b="14367"/>
            <a:stretch/>
          </p:blipFill>
          <p:spPr>
            <a:xfrm>
              <a:off x="5848480" y="3335379"/>
              <a:ext cx="577964" cy="841195"/>
            </a:xfrm>
            <a:prstGeom prst="rect">
              <a:avLst/>
            </a:prstGeom>
          </p:spPr>
        </p:pic>
        <p:pic>
          <p:nvPicPr>
            <p:cNvPr id="174" name="Picture 173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8372" y="3254065"/>
              <a:ext cx="1566651" cy="2180625"/>
            </a:xfrm>
            <a:prstGeom prst="rect">
              <a:avLst/>
            </a:prstGeom>
          </p:spPr>
        </p:pic>
        <p:pic>
          <p:nvPicPr>
            <p:cNvPr id="177" name="Picture 176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6" t="8556" r="3537" b="14723"/>
            <a:stretch/>
          </p:blipFill>
          <p:spPr>
            <a:xfrm>
              <a:off x="8348704" y="3579108"/>
              <a:ext cx="782073" cy="656555"/>
            </a:xfrm>
            <a:prstGeom prst="rect">
              <a:avLst/>
            </a:prstGeom>
          </p:spPr>
        </p:pic>
        <p:pic>
          <p:nvPicPr>
            <p:cNvPr id="176" name="Picture 175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0357" y="3825396"/>
              <a:ext cx="612224" cy="567399"/>
            </a:xfrm>
            <a:prstGeom prst="rect">
              <a:avLst/>
            </a:prstGeom>
          </p:spPr>
        </p:pic>
        <p:pic>
          <p:nvPicPr>
            <p:cNvPr id="179" name="Picture 178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6" t="8556" r="3537" b="14723"/>
            <a:stretch/>
          </p:blipFill>
          <p:spPr>
            <a:xfrm>
              <a:off x="9688445" y="3552230"/>
              <a:ext cx="782073" cy="656555"/>
            </a:xfrm>
            <a:prstGeom prst="rect">
              <a:avLst/>
            </a:prstGeom>
          </p:spPr>
        </p:pic>
        <p:cxnSp>
          <p:nvCxnSpPr>
            <p:cNvPr id="183" name="Straight Connector 182"/>
            <p:cNvCxnSpPr/>
            <p:nvPr/>
          </p:nvCxnSpPr>
          <p:spPr>
            <a:xfrm flipV="1">
              <a:off x="8133116" y="4737694"/>
              <a:ext cx="2427059" cy="13763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flipV="1">
              <a:off x="7687982" y="4767512"/>
              <a:ext cx="1932756" cy="11149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Oval 185"/>
            <p:cNvSpPr/>
            <p:nvPr/>
          </p:nvSpPr>
          <p:spPr>
            <a:xfrm>
              <a:off x="8688004" y="5819948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9264294" y="5472718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9539663" y="5308585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9833042" y="5143196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10138814" y="4975971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10441751" y="4794920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/>
            <p:cNvSpPr/>
            <p:nvPr/>
          </p:nvSpPr>
          <p:spPr>
            <a:xfrm>
              <a:off x="7700750" y="5640854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/>
            <p:cNvSpPr/>
            <p:nvPr/>
          </p:nvSpPr>
          <p:spPr>
            <a:xfrm>
              <a:off x="8195865" y="5372069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/>
            <p:cNvSpPr/>
            <p:nvPr/>
          </p:nvSpPr>
          <p:spPr>
            <a:xfrm>
              <a:off x="8411195" y="5247425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/>
            <p:cNvSpPr/>
            <p:nvPr/>
          </p:nvSpPr>
          <p:spPr>
            <a:xfrm>
              <a:off x="8843229" y="4992595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/>
            <p:cNvSpPr/>
            <p:nvPr/>
          </p:nvSpPr>
          <p:spPr>
            <a:xfrm>
              <a:off x="9069182" y="4876293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/>
            <p:cNvSpPr/>
            <p:nvPr/>
          </p:nvSpPr>
          <p:spPr>
            <a:xfrm>
              <a:off x="9281515" y="4748915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3" name="Picture 202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9207033" y="4825529"/>
              <a:ext cx="579707" cy="467506"/>
            </a:xfrm>
            <a:prstGeom prst="rect">
              <a:avLst/>
            </a:prstGeom>
          </p:spPr>
        </p:pic>
        <p:pic>
          <p:nvPicPr>
            <p:cNvPr id="204" name="Picture 203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8552022" y="5240136"/>
              <a:ext cx="579707" cy="467506"/>
            </a:xfrm>
            <a:prstGeom prst="rect">
              <a:avLst/>
            </a:prstGeom>
          </p:spPr>
        </p:pic>
        <p:pic>
          <p:nvPicPr>
            <p:cNvPr id="205" name="Picture 20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7967944" y="5589292"/>
              <a:ext cx="579707" cy="467506"/>
            </a:xfrm>
            <a:prstGeom prst="rect">
              <a:avLst/>
            </a:prstGeom>
          </p:spPr>
        </p:pic>
        <p:sp>
          <p:nvSpPr>
            <p:cNvPr id="187" name="Oval 186"/>
            <p:cNvSpPr/>
            <p:nvPr/>
          </p:nvSpPr>
          <p:spPr>
            <a:xfrm>
              <a:off x="8973391" y="5654484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/>
            <p:cNvSpPr/>
            <p:nvPr/>
          </p:nvSpPr>
          <p:spPr>
            <a:xfrm>
              <a:off x="8610510" y="5126491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/>
            <p:cNvSpPr/>
            <p:nvPr/>
          </p:nvSpPr>
          <p:spPr>
            <a:xfrm>
              <a:off x="7959788" y="5493787"/>
              <a:ext cx="140684" cy="147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6" name="Picture 205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6" t="8556" r="3537" b="14723"/>
            <a:stretch/>
          </p:blipFill>
          <p:spPr>
            <a:xfrm>
              <a:off x="10726565" y="3541549"/>
              <a:ext cx="782073" cy="656555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884519" y="1337399"/>
              <a:ext cx="15074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Laser Marking </a:t>
              </a:r>
            </a:p>
            <a:p>
              <a:r>
                <a:rPr lang="en-US" dirty="0" smtClean="0"/>
                <a:t>Machine</a:t>
              </a:r>
              <a:endParaRPr lang="en-US" dirty="0"/>
            </a:p>
          </p:txBody>
        </p:sp>
        <p:grpSp>
          <p:nvGrpSpPr>
            <p:cNvPr id="215" name="Group 214"/>
            <p:cNvGrpSpPr/>
            <p:nvPr/>
          </p:nvGrpSpPr>
          <p:grpSpPr>
            <a:xfrm>
              <a:off x="-646257" y="3231846"/>
              <a:ext cx="1301320" cy="2140223"/>
              <a:chOff x="8010974" y="657086"/>
              <a:chExt cx="1301320" cy="2140223"/>
            </a:xfrm>
          </p:grpSpPr>
          <p:pic>
            <p:nvPicPr>
              <p:cNvPr id="216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968" t="47057" r="-745" b="28313"/>
              <a:stretch/>
            </p:blipFill>
            <p:spPr bwMode="auto">
              <a:xfrm>
                <a:off x="9012283" y="985883"/>
                <a:ext cx="300011" cy="500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7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8010974" y="657086"/>
                <a:ext cx="1056826" cy="2140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9" name="TextBox 218"/>
            <p:cNvSpPr txBox="1"/>
            <p:nvPr/>
          </p:nvSpPr>
          <p:spPr>
            <a:xfrm>
              <a:off x="2867885" y="1840686"/>
              <a:ext cx="1507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FMS Scanner</a:t>
              </a:r>
              <a:endParaRPr lang="en-US" dirty="0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4621122" y="874929"/>
              <a:ext cx="21368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Mono packing Box  Machine</a:t>
              </a:r>
              <a:endParaRPr lang="en-US" dirty="0"/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6687760" y="2067762"/>
              <a:ext cx="14502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Label Pasting machine on mono boxes</a:t>
              </a:r>
              <a:endParaRPr lang="en-US" dirty="0"/>
            </a:p>
          </p:txBody>
        </p:sp>
        <p:cxnSp>
          <p:nvCxnSpPr>
            <p:cNvPr id="225" name="Straight Arrow Connector 224"/>
            <p:cNvCxnSpPr/>
            <p:nvPr/>
          </p:nvCxnSpPr>
          <p:spPr>
            <a:xfrm flipH="1" flipV="1">
              <a:off x="4041527" y="5324962"/>
              <a:ext cx="498857" cy="5969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229"/>
            <p:cNvSpPr txBox="1"/>
            <p:nvPr/>
          </p:nvSpPr>
          <p:spPr>
            <a:xfrm>
              <a:off x="4370438" y="5836250"/>
              <a:ext cx="1699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Non –barcoded items</a:t>
              </a:r>
              <a:endParaRPr lang="en-US" dirty="0"/>
            </a:p>
          </p:txBody>
        </p:sp>
        <p:cxnSp>
          <p:nvCxnSpPr>
            <p:cNvPr id="232" name="Straight Arrow Connector 231"/>
            <p:cNvCxnSpPr/>
            <p:nvPr/>
          </p:nvCxnSpPr>
          <p:spPr>
            <a:xfrm>
              <a:off x="9235940" y="3297436"/>
              <a:ext cx="1" cy="78522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TextBox 232"/>
            <p:cNvSpPr txBox="1"/>
            <p:nvPr/>
          </p:nvSpPr>
          <p:spPr>
            <a:xfrm>
              <a:off x="8556401" y="2851686"/>
              <a:ext cx="145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Scanner to validate Mono box Barcode</a:t>
              </a:r>
              <a:endParaRPr lang="en-US" sz="1200" dirty="0"/>
            </a:p>
          </p:txBody>
        </p:sp>
        <p:cxnSp>
          <p:nvCxnSpPr>
            <p:cNvPr id="238" name="Straight Arrow Connector 237"/>
            <p:cNvCxnSpPr/>
            <p:nvPr/>
          </p:nvCxnSpPr>
          <p:spPr>
            <a:xfrm flipH="1" flipV="1">
              <a:off x="9104605" y="5567826"/>
              <a:ext cx="498857" cy="5969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TextBox 238"/>
            <p:cNvSpPr txBox="1"/>
            <p:nvPr/>
          </p:nvSpPr>
          <p:spPr>
            <a:xfrm>
              <a:off x="8739740" y="6134074"/>
              <a:ext cx="2321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Non –labelled items</a:t>
              </a:r>
              <a:endParaRPr lang="en-US" dirty="0"/>
            </a:p>
          </p:txBody>
        </p:sp>
        <p:cxnSp>
          <p:nvCxnSpPr>
            <p:cNvPr id="240" name="Straight Arrow Connector 239"/>
            <p:cNvCxnSpPr/>
            <p:nvPr/>
          </p:nvCxnSpPr>
          <p:spPr>
            <a:xfrm>
              <a:off x="10987401" y="2884796"/>
              <a:ext cx="1" cy="78522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1" name="TextBox 240"/>
            <p:cNvSpPr txBox="1"/>
            <p:nvPr/>
          </p:nvSpPr>
          <p:spPr>
            <a:xfrm>
              <a:off x="10307862" y="2439046"/>
              <a:ext cx="145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Mono box that passed and labelled</a:t>
              </a:r>
              <a:endParaRPr lang="en-US" sz="1200" dirty="0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-743480" y="2293309"/>
              <a:ext cx="16999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Worker keeping</a:t>
              </a:r>
            </a:p>
            <a:p>
              <a:r>
                <a:rPr lang="en-US" dirty="0" smtClean="0"/>
                <a:t>Item on Conveyor</a:t>
              </a:r>
              <a:endParaRPr lang="en-US" dirty="0"/>
            </a:p>
          </p:txBody>
        </p:sp>
        <p:cxnSp>
          <p:nvCxnSpPr>
            <p:cNvPr id="244" name="Straight Arrow Connector 243"/>
            <p:cNvCxnSpPr/>
            <p:nvPr/>
          </p:nvCxnSpPr>
          <p:spPr>
            <a:xfrm>
              <a:off x="7171755" y="2895541"/>
              <a:ext cx="1" cy="78522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/>
            <p:nvPr/>
          </p:nvCxnSpPr>
          <p:spPr>
            <a:xfrm flipV="1">
              <a:off x="11518276" y="4983831"/>
              <a:ext cx="449853" cy="62916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/>
            <p:cNvSpPr txBox="1"/>
            <p:nvPr/>
          </p:nvSpPr>
          <p:spPr>
            <a:xfrm>
              <a:off x="11348329" y="5527328"/>
              <a:ext cx="16999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carrying mono boxes in trolley</a:t>
              </a:r>
              <a:endParaRPr lang="en-US" dirty="0"/>
            </a:p>
          </p:txBody>
        </p:sp>
        <p:pic>
          <p:nvPicPr>
            <p:cNvPr id="136" name="Picture 2" descr="https://o.remove.bg/downloads/86b6238f-c794-46a6-ada4-f6431caacad8/DALL_E_2023-05-18_16.28.41_-_a_factory_person_carrying_bulbs_in_trolley_animated-removebg-preview.png"/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91" r="60146"/>
            <a:stretch/>
          </p:blipFill>
          <p:spPr bwMode="auto">
            <a:xfrm flipH="1">
              <a:off x="12780523" y="2957773"/>
              <a:ext cx="1187887" cy="2405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5038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/>
          <p:cNvGrpSpPr/>
          <p:nvPr/>
        </p:nvGrpSpPr>
        <p:grpSpPr>
          <a:xfrm>
            <a:off x="-139082" y="459494"/>
            <a:ext cx="12738151" cy="5773819"/>
            <a:chOff x="-66511" y="1301323"/>
            <a:chExt cx="12738151" cy="5773819"/>
          </a:xfrm>
        </p:grpSpPr>
        <p:pic>
          <p:nvPicPr>
            <p:cNvPr id="58" name="Picture 2" descr="https://o.remove.bg/downloads/86b6238f-c794-46a6-ada4-f6431caacad8/DALL_E_2023-05-18_16.28.41_-_a_factory_person_carrying_bulbs_in_trolley_animated-removebg-preview.p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91" r="60146"/>
            <a:stretch/>
          </p:blipFill>
          <p:spPr bwMode="auto">
            <a:xfrm>
              <a:off x="-66511" y="2537489"/>
              <a:ext cx="1187887" cy="2405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2" name="Group 131"/>
            <p:cNvGrpSpPr/>
            <p:nvPr/>
          </p:nvGrpSpPr>
          <p:grpSpPr>
            <a:xfrm>
              <a:off x="1048164" y="1301323"/>
              <a:ext cx="11623476" cy="5773819"/>
              <a:chOff x="1048164" y="1301323"/>
              <a:chExt cx="11623476" cy="5773819"/>
            </a:xfrm>
          </p:grpSpPr>
          <p:sp>
            <p:nvSpPr>
              <p:cNvPr id="52" name="Rounded Rectangle 51"/>
              <p:cNvSpPr/>
              <p:nvPr/>
            </p:nvSpPr>
            <p:spPr>
              <a:xfrm>
                <a:off x="2560676" y="4356320"/>
                <a:ext cx="3939031" cy="1210614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scene3d>
                <a:camera prst="isometricTopU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1048165" y="3222441"/>
                <a:ext cx="9564028" cy="1210614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scene3d>
                <a:camera prst="perspectiveFront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7435803" y="3956722"/>
                <a:ext cx="1038032" cy="414238"/>
                <a:chOff x="2131329" y="3456840"/>
                <a:chExt cx="1158684" cy="414238"/>
              </a:xfrm>
            </p:grpSpPr>
            <p:grpSp>
              <p:nvGrpSpPr>
                <p:cNvPr id="17" name="Group 16"/>
                <p:cNvGrpSpPr/>
                <p:nvPr/>
              </p:nvGrpSpPr>
              <p:grpSpPr>
                <a:xfrm>
                  <a:off x="2131329" y="3469931"/>
                  <a:ext cx="388474" cy="401147"/>
                  <a:chOff x="8072366" y="4893264"/>
                  <a:chExt cx="712983" cy="736242"/>
                </a:xfrm>
              </p:grpSpPr>
              <p:sp>
                <p:nvSpPr>
                  <p:cNvPr id="21" name="Freeform 20"/>
                  <p:cNvSpPr/>
                  <p:nvPr/>
                </p:nvSpPr>
                <p:spPr>
                  <a:xfrm>
                    <a:off x="8072366" y="4893264"/>
                    <a:ext cx="712983" cy="736242"/>
                  </a:xfrm>
                  <a:custGeom>
                    <a:avLst/>
                    <a:gdLst>
                      <a:gd name="connsiteX0" fmla="*/ 356491 w 712983"/>
                      <a:gd name="connsiteY0" fmla="*/ 0 h 736242"/>
                      <a:gd name="connsiteX1" fmla="*/ 425590 w 712983"/>
                      <a:gd name="connsiteY1" fmla="*/ 6966 h 736242"/>
                      <a:gd name="connsiteX2" fmla="*/ 493060 w 712983"/>
                      <a:gd name="connsiteY2" fmla="*/ 163268 h 736242"/>
                      <a:gd name="connsiteX3" fmla="*/ 644436 w 712983"/>
                      <a:gd name="connsiteY3" fmla="*/ 141325 h 736242"/>
                      <a:gd name="connsiteX4" fmla="*/ 661743 w 712983"/>
                      <a:gd name="connsiteY4" fmla="*/ 162301 h 736242"/>
                      <a:gd name="connsiteX5" fmla="*/ 695683 w 712983"/>
                      <a:gd name="connsiteY5" fmla="*/ 224832 h 736242"/>
                      <a:gd name="connsiteX6" fmla="*/ 712983 w 712983"/>
                      <a:gd name="connsiteY6" fmla="*/ 280561 h 736242"/>
                      <a:gd name="connsiteX7" fmla="*/ 629629 w 712983"/>
                      <a:gd name="connsiteY7" fmla="*/ 368122 h 736242"/>
                      <a:gd name="connsiteX8" fmla="*/ 712982 w 712983"/>
                      <a:gd name="connsiteY8" fmla="*/ 455683 h 736242"/>
                      <a:gd name="connsiteX9" fmla="*/ 695683 w 712983"/>
                      <a:gd name="connsiteY9" fmla="*/ 511411 h 736242"/>
                      <a:gd name="connsiteX10" fmla="*/ 661743 w 712983"/>
                      <a:gd name="connsiteY10" fmla="*/ 573941 h 736242"/>
                      <a:gd name="connsiteX11" fmla="*/ 644435 w 712983"/>
                      <a:gd name="connsiteY11" fmla="*/ 594919 h 736242"/>
                      <a:gd name="connsiteX12" fmla="*/ 493060 w 712983"/>
                      <a:gd name="connsiteY12" fmla="*/ 572975 h 736242"/>
                      <a:gd name="connsiteX13" fmla="*/ 425590 w 712983"/>
                      <a:gd name="connsiteY13" fmla="*/ 729276 h 736242"/>
                      <a:gd name="connsiteX14" fmla="*/ 356491 w 712983"/>
                      <a:gd name="connsiteY14" fmla="*/ 736242 h 736242"/>
                      <a:gd name="connsiteX15" fmla="*/ 287394 w 712983"/>
                      <a:gd name="connsiteY15" fmla="*/ 729277 h 736242"/>
                      <a:gd name="connsiteX16" fmla="*/ 219923 w 712983"/>
                      <a:gd name="connsiteY16" fmla="*/ 572975 h 736242"/>
                      <a:gd name="connsiteX17" fmla="*/ 68548 w 712983"/>
                      <a:gd name="connsiteY17" fmla="*/ 594919 h 736242"/>
                      <a:gd name="connsiteX18" fmla="*/ 51239 w 712983"/>
                      <a:gd name="connsiteY18" fmla="*/ 573941 h 736242"/>
                      <a:gd name="connsiteX19" fmla="*/ 17299 w 712983"/>
                      <a:gd name="connsiteY19" fmla="*/ 511411 h 736242"/>
                      <a:gd name="connsiteX20" fmla="*/ 0 w 712983"/>
                      <a:gd name="connsiteY20" fmla="*/ 455684 h 736242"/>
                      <a:gd name="connsiteX21" fmla="*/ 83354 w 712983"/>
                      <a:gd name="connsiteY21" fmla="*/ 368122 h 736242"/>
                      <a:gd name="connsiteX22" fmla="*/ 0 w 712983"/>
                      <a:gd name="connsiteY22" fmla="*/ 280560 h 736242"/>
                      <a:gd name="connsiteX23" fmla="*/ 17299 w 712983"/>
                      <a:gd name="connsiteY23" fmla="*/ 224832 h 736242"/>
                      <a:gd name="connsiteX24" fmla="*/ 51239 w 712983"/>
                      <a:gd name="connsiteY24" fmla="*/ 162301 h 736242"/>
                      <a:gd name="connsiteX25" fmla="*/ 68547 w 712983"/>
                      <a:gd name="connsiteY25" fmla="*/ 141324 h 736242"/>
                      <a:gd name="connsiteX26" fmla="*/ 219923 w 712983"/>
                      <a:gd name="connsiteY26" fmla="*/ 163268 h 736242"/>
                      <a:gd name="connsiteX27" fmla="*/ 287394 w 712983"/>
                      <a:gd name="connsiteY27" fmla="*/ 6966 h 736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712983" h="736242">
                        <a:moveTo>
                          <a:pt x="356491" y="0"/>
                        </a:moveTo>
                        <a:lnTo>
                          <a:pt x="425590" y="6966"/>
                        </a:lnTo>
                        <a:lnTo>
                          <a:pt x="493060" y="163268"/>
                        </a:lnTo>
                        <a:lnTo>
                          <a:pt x="644436" y="141325"/>
                        </a:lnTo>
                        <a:lnTo>
                          <a:pt x="661743" y="162301"/>
                        </a:lnTo>
                        <a:cubicBezTo>
                          <a:pt x="674974" y="181885"/>
                          <a:pt x="686369" y="202811"/>
                          <a:pt x="695683" y="224832"/>
                        </a:cubicBezTo>
                        <a:lnTo>
                          <a:pt x="712983" y="280561"/>
                        </a:lnTo>
                        <a:lnTo>
                          <a:pt x="629629" y="368122"/>
                        </a:lnTo>
                        <a:lnTo>
                          <a:pt x="712982" y="455683"/>
                        </a:lnTo>
                        <a:lnTo>
                          <a:pt x="695683" y="511411"/>
                        </a:lnTo>
                        <a:cubicBezTo>
                          <a:pt x="686369" y="533431"/>
                          <a:pt x="674974" y="554357"/>
                          <a:pt x="661743" y="573941"/>
                        </a:cubicBezTo>
                        <a:lnTo>
                          <a:pt x="644435" y="594919"/>
                        </a:lnTo>
                        <a:lnTo>
                          <a:pt x="493060" y="572975"/>
                        </a:lnTo>
                        <a:lnTo>
                          <a:pt x="425590" y="729276"/>
                        </a:lnTo>
                        <a:lnTo>
                          <a:pt x="356491" y="736242"/>
                        </a:lnTo>
                        <a:lnTo>
                          <a:pt x="287394" y="729277"/>
                        </a:lnTo>
                        <a:lnTo>
                          <a:pt x="219923" y="572975"/>
                        </a:lnTo>
                        <a:lnTo>
                          <a:pt x="68548" y="594919"/>
                        </a:lnTo>
                        <a:lnTo>
                          <a:pt x="51239" y="573941"/>
                        </a:lnTo>
                        <a:cubicBezTo>
                          <a:pt x="38009" y="554357"/>
                          <a:pt x="26613" y="533431"/>
                          <a:pt x="17299" y="511411"/>
                        </a:cubicBezTo>
                        <a:lnTo>
                          <a:pt x="0" y="455684"/>
                        </a:lnTo>
                        <a:lnTo>
                          <a:pt x="83354" y="368122"/>
                        </a:lnTo>
                        <a:lnTo>
                          <a:pt x="0" y="280560"/>
                        </a:lnTo>
                        <a:lnTo>
                          <a:pt x="17299" y="224832"/>
                        </a:lnTo>
                        <a:cubicBezTo>
                          <a:pt x="26613" y="202811"/>
                          <a:pt x="38009" y="181885"/>
                          <a:pt x="51239" y="162301"/>
                        </a:cubicBezTo>
                        <a:lnTo>
                          <a:pt x="68547" y="141324"/>
                        </a:lnTo>
                        <a:lnTo>
                          <a:pt x="219923" y="163268"/>
                        </a:lnTo>
                        <a:lnTo>
                          <a:pt x="287394" y="696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Oval 21"/>
                  <p:cNvSpPr/>
                  <p:nvPr/>
                </p:nvSpPr>
                <p:spPr>
                  <a:xfrm>
                    <a:off x="8253020" y="5080725"/>
                    <a:ext cx="332887" cy="33198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" name="Group 17"/>
                <p:cNvGrpSpPr/>
                <p:nvPr/>
              </p:nvGrpSpPr>
              <p:grpSpPr>
                <a:xfrm>
                  <a:off x="2901539" y="3456840"/>
                  <a:ext cx="388474" cy="401147"/>
                  <a:chOff x="8072366" y="4893264"/>
                  <a:chExt cx="712983" cy="736242"/>
                </a:xfrm>
              </p:grpSpPr>
              <p:sp>
                <p:nvSpPr>
                  <p:cNvPr id="19" name="Freeform 18"/>
                  <p:cNvSpPr/>
                  <p:nvPr/>
                </p:nvSpPr>
                <p:spPr>
                  <a:xfrm>
                    <a:off x="8072366" y="4893264"/>
                    <a:ext cx="712983" cy="736242"/>
                  </a:xfrm>
                  <a:custGeom>
                    <a:avLst/>
                    <a:gdLst>
                      <a:gd name="connsiteX0" fmla="*/ 356491 w 712983"/>
                      <a:gd name="connsiteY0" fmla="*/ 0 h 736242"/>
                      <a:gd name="connsiteX1" fmla="*/ 425590 w 712983"/>
                      <a:gd name="connsiteY1" fmla="*/ 6966 h 736242"/>
                      <a:gd name="connsiteX2" fmla="*/ 493060 w 712983"/>
                      <a:gd name="connsiteY2" fmla="*/ 163268 h 736242"/>
                      <a:gd name="connsiteX3" fmla="*/ 644436 w 712983"/>
                      <a:gd name="connsiteY3" fmla="*/ 141325 h 736242"/>
                      <a:gd name="connsiteX4" fmla="*/ 661743 w 712983"/>
                      <a:gd name="connsiteY4" fmla="*/ 162301 h 736242"/>
                      <a:gd name="connsiteX5" fmla="*/ 695683 w 712983"/>
                      <a:gd name="connsiteY5" fmla="*/ 224832 h 736242"/>
                      <a:gd name="connsiteX6" fmla="*/ 712983 w 712983"/>
                      <a:gd name="connsiteY6" fmla="*/ 280561 h 736242"/>
                      <a:gd name="connsiteX7" fmla="*/ 629629 w 712983"/>
                      <a:gd name="connsiteY7" fmla="*/ 368122 h 736242"/>
                      <a:gd name="connsiteX8" fmla="*/ 712982 w 712983"/>
                      <a:gd name="connsiteY8" fmla="*/ 455683 h 736242"/>
                      <a:gd name="connsiteX9" fmla="*/ 695683 w 712983"/>
                      <a:gd name="connsiteY9" fmla="*/ 511411 h 736242"/>
                      <a:gd name="connsiteX10" fmla="*/ 661743 w 712983"/>
                      <a:gd name="connsiteY10" fmla="*/ 573941 h 736242"/>
                      <a:gd name="connsiteX11" fmla="*/ 644435 w 712983"/>
                      <a:gd name="connsiteY11" fmla="*/ 594919 h 736242"/>
                      <a:gd name="connsiteX12" fmla="*/ 493060 w 712983"/>
                      <a:gd name="connsiteY12" fmla="*/ 572975 h 736242"/>
                      <a:gd name="connsiteX13" fmla="*/ 425590 w 712983"/>
                      <a:gd name="connsiteY13" fmla="*/ 729276 h 736242"/>
                      <a:gd name="connsiteX14" fmla="*/ 356491 w 712983"/>
                      <a:gd name="connsiteY14" fmla="*/ 736242 h 736242"/>
                      <a:gd name="connsiteX15" fmla="*/ 287394 w 712983"/>
                      <a:gd name="connsiteY15" fmla="*/ 729277 h 736242"/>
                      <a:gd name="connsiteX16" fmla="*/ 219923 w 712983"/>
                      <a:gd name="connsiteY16" fmla="*/ 572975 h 736242"/>
                      <a:gd name="connsiteX17" fmla="*/ 68548 w 712983"/>
                      <a:gd name="connsiteY17" fmla="*/ 594919 h 736242"/>
                      <a:gd name="connsiteX18" fmla="*/ 51239 w 712983"/>
                      <a:gd name="connsiteY18" fmla="*/ 573941 h 736242"/>
                      <a:gd name="connsiteX19" fmla="*/ 17299 w 712983"/>
                      <a:gd name="connsiteY19" fmla="*/ 511411 h 736242"/>
                      <a:gd name="connsiteX20" fmla="*/ 0 w 712983"/>
                      <a:gd name="connsiteY20" fmla="*/ 455684 h 736242"/>
                      <a:gd name="connsiteX21" fmla="*/ 83354 w 712983"/>
                      <a:gd name="connsiteY21" fmla="*/ 368122 h 736242"/>
                      <a:gd name="connsiteX22" fmla="*/ 0 w 712983"/>
                      <a:gd name="connsiteY22" fmla="*/ 280560 h 736242"/>
                      <a:gd name="connsiteX23" fmla="*/ 17299 w 712983"/>
                      <a:gd name="connsiteY23" fmla="*/ 224832 h 736242"/>
                      <a:gd name="connsiteX24" fmla="*/ 51239 w 712983"/>
                      <a:gd name="connsiteY24" fmla="*/ 162301 h 736242"/>
                      <a:gd name="connsiteX25" fmla="*/ 68547 w 712983"/>
                      <a:gd name="connsiteY25" fmla="*/ 141324 h 736242"/>
                      <a:gd name="connsiteX26" fmla="*/ 219923 w 712983"/>
                      <a:gd name="connsiteY26" fmla="*/ 163268 h 736242"/>
                      <a:gd name="connsiteX27" fmla="*/ 287394 w 712983"/>
                      <a:gd name="connsiteY27" fmla="*/ 6966 h 736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712983" h="736242">
                        <a:moveTo>
                          <a:pt x="356491" y="0"/>
                        </a:moveTo>
                        <a:lnTo>
                          <a:pt x="425590" y="6966"/>
                        </a:lnTo>
                        <a:lnTo>
                          <a:pt x="493060" y="163268"/>
                        </a:lnTo>
                        <a:lnTo>
                          <a:pt x="644436" y="141325"/>
                        </a:lnTo>
                        <a:lnTo>
                          <a:pt x="661743" y="162301"/>
                        </a:lnTo>
                        <a:cubicBezTo>
                          <a:pt x="674974" y="181885"/>
                          <a:pt x="686369" y="202811"/>
                          <a:pt x="695683" y="224832"/>
                        </a:cubicBezTo>
                        <a:lnTo>
                          <a:pt x="712983" y="280561"/>
                        </a:lnTo>
                        <a:lnTo>
                          <a:pt x="629629" y="368122"/>
                        </a:lnTo>
                        <a:lnTo>
                          <a:pt x="712982" y="455683"/>
                        </a:lnTo>
                        <a:lnTo>
                          <a:pt x="695683" y="511411"/>
                        </a:lnTo>
                        <a:cubicBezTo>
                          <a:pt x="686369" y="533431"/>
                          <a:pt x="674974" y="554357"/>
                          <a:pt x="661743" y="573941"/>
                        </a:cubicBezTo>
                        <a:lnTo>
                          <a:pt x="644435" y="594919"/>
                        </a:lnTo>
                        <a:lnTo>
                          <a:pt x="493060" y="572975"/>
                        </a:lnTo>
                        <a:lnTo>
                          <a:pt x="425590" y="729276"/>
                        </a:lnTo>
                        <a:lnTo>
                          <a:pt x="356491" y="736242"/>
                        </a:lnTo>
                        <a:lnTo>
                          <a:pt x="287394" y="729277"/>
                        </a:lnTo>
                        <a:lnTo>
                          <a:pt x="219923" y="572975"/>
                        </a:lnTo>
                        <a:lnTo>
                          <a:pt x="68548" y="594919"/>
                        </a:lnTo>
                        <a:lnTo>
                          <a:pt x="51239" y="573941"/>
                        </a:lnTo>
                        <a:cubicBezTo>
                          <a:pt x="38009" y="554357"/>
                          <a:pt x="26613" y="533431"/>
                          <a:pt x="17299" y="511411"/>
                        </a:cubicBezTo>
                        <a:lnTo>
                          <a:pt x="0" y="455684"/>
                        </a:lnTo>
                        <a:lnTo>
                          <a:pt x="83354" y="368122"/>
                        </a:lnTo>
                        <a:lnTo>
                          <a:pt x="0" y="280560"/>
                        </a:lnTo>
                        <a:lnTo>
                          <a:pt x="17299" y="224832"/>
                        </a:lnTo>
                        <a:cubicBezTo>
                          <a:pt x="26613" y="202811"/>
                          <a:pt x="38009" y="181885"/>
                          <a:pt x="51239" y="162301"/>
                        </a:cubicBezTo>
                        <a:lnTo>
                          <a:pt x="68547" y="141324"/>
                        </a:lnTo>
                        <a:lnTo>
                          <a:pt x="219923" y="163268"/>
                        </a:lnTo>
                        <a:lnTo>
                          <a:pt x="287394" y="696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Oval 19"/>
                  <p:cNvSpPr/>
                  <p:nvPr/>
                </p:nvSpPr>
                <p:spPr>
                  <a:xfrm>
                    <a:off x="8253020" y="5080725"/>
                    <a:ext cx="332887" cy="33198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5" name="Group 24"/>
              <p:cNvGrpSpPr/>
              <p:nvPr/>
            </p:nvGrpSpPr>
            <p:grpSpPr>
              <a:xfrm>
                <a:off x="8958045" y="3947337"/>
                <a:ext cx="990082" cy="408936"/>
                <a:chOff x="1414643" y="3469931"/>
                <a:chExt cx="1105160" cy="408936"/>
              </a:xfrm>
            </p:grpSpPr>
            <p:grpSp>
              <p:nvGrpSpPr>
                <p:cNvPr id="26" name="Group 25"/>
                <p:cNvGrpSpPr/>
                <p:nvPr/>
              </p:nvGrpSpPr>
              <p:grpSpPr>
                <a:xfrm>
                  <a:off x="1414643" y="3477720"/>
                  <a:ext cx="388474" cy="401147"/>
                  <a:chOff x="8072366" y="4893264"/>
                  <a:chExt cx="712983" cy="736242"/>
                </a:xfrm>
              </p:grpSpPr>
              <p:sp>
                <p:nvSpPr>
                  <p:cNvPr id="36" name="Freeform 35"/>
                  <p:cNvSpPr/>
                  <p:nvPr/>
                </p:nvSpPr>
                <p:spPr>
                  <a:xfrm>
                    <a:off x="8072366" y="4893264"/>
                    <a:ext cx="712983" cy="736242"/>
                  </a:xfrm>
                  <a:custGeom>
                    <a:avLst/>
                    <a:gdLst>
                      <a:gd name="connsiteX0" fmla="*/ 356491 w 712983"/>
                      <a:gd name="connsiteY0" fmla="*/ 0 h 736242"/>
                      <a:gd name="connsiteX1" fmla="*/ 425590 w 712983"/>
                      <a:gd name="connsiteY1" fmla="*/ 6966 h 736242"/>
                      <a:gd name="connsiteX2" fmla="*/ 493060 w 712983"/>
                      <a:gd name="connsiteY2" fmla="*/ 163268 h 736242"/>
                      <a:gd name="connsiteX3" fmla="*/ 644436 w 712983"/>
                      <a:gd name="connsiteY3" fmla="*/ 141325 h 736242"/>
                      <a:gd name="connsiteX4" fmla="*/ 661743 w 712983"/>
                      <a:gd name="connsiteY4" fmla="*/ 162301 h 736242"/>
                      <a:gd name="connsiteX5" fmla="*/ 695683 w 712983"/>
                      <a:gd name="connsiteY5" fmla="*/ 224832 h 736242"/>
                      <a:gd name="connsiteX6" fmla="*/ 712983 w 712983"/>
                      <a:gd name="connsiteY6" fmla="*/ 280561 h 736242"/>
                      <a:gd name="connsiteX7" fmla="*/ 629629 w 712983"/>
                      <a:gd name="connsiteY7" fmla="*/ 368122 h 736242"/>
                      <a:gd name="connsiteX8" fmla="*/ 712982 w 712983"/>
                      <a:gd name="connsiteY8" fmla="*/ 455683 h 736242"/>
                      <a:gd name="connsiteX9" fmla="*/ 695683 w 712983"/>
                      <a:gd name="connsiteY9" fmla="*/ 511411 h 736242"/>
                      <a:gd name="connsiteX10" fmla="*/ 661743 w 712983"/>
                      <a:gd name="connsiteY10" fmla="*/ 573941 h 736242"/>
                      <a:gd name="connsiteX11" fmla="*/ 644435 w 712983"/>
                      <a:gd name="connsiteY11" fmla="*/ 594919 h 736242"/>
                      <a:gd name="connsiteX12" fmla="*/ 493060 w 712983"/>
                      <a:gd name="connsiteY12" fmla="*/ 572975 h 736242"/>
                      <a:gd name="connsiteX13" fmla="*/ 425590 w 712983"/>
                      <a:gd name="connsiteY13" fmla="*/ 729276 h 736242"/>
                      <a:gd name="connsiteX14" fmla="*/ 356491 w 712983"/>
                      <a:gd name="connsiteY14" fmla="*/ 736242 h 736242"/>
                      <a:gd name="connsiteX15" fmla="*/ 287394 w 712983"/>
                      <a:gd name="connsiteY15" fmla="*/ 729277 h 736242"/>
                      <a:gd name="connsiteX16" fmla="*/ 219923 w 712983"/>
                      <a:gd name="connsiteY16" fmla="*/ 572975 h 736242"/>
                      <a:gd name="connsiteX17" fmla="*/ 68548 w 712983"/>
                      <a:gd name="connsiteY17" fmla="*/ 594919 h 736242"/>
                      <a:gd name="connsiteX18" fmla="*/ 51239 w 712983"/>
                      <a:gd name="connsiteY18" fmla="*/ 573941 h 736242"/>
                      <a:gd name="connsiteX19" fmla="*/ 17299 w 712983"/>
                      <a:gd name="connsiteY19" fmla="*/ 511411 h 736242"/>
                      <a:gd name="connsiteX20" fmla="*/ 0 w 712983"/>
                      <a:gd name="connsiteY20" fmla="*/ 455684 h 736242"/>
                      <a:gd name="connsiteX21" fmla="*/ 83354 w 712983"/>
                      <a:gd name="connsiteY21" fmla="*/ 368122 h 736242"/>
                      <a:gd name="connsiteX22" fmla="*/ 0 w 712983"/>
                      <a:gd name="connsiteY22" fmla="*/ 280560 h 736242"/>
                      <a:gd name="connsiteX23" fmla="*/ 17299 w 712983"/>
                      <a:gd name="connsiteY23" fmla="*/ 224832 h 736242"/>
                      <a:gd name="connsiteX24" fmla="*/ 51239 w 712983"/>
                      <a:gd name="connsiteY24" fmla="*/ 162301 h 736242"/>
                      <a:gd name="connsiteX25" fmla="*/ 68547 w 712983"/>
                      <a:gd name="connsiteY25" fmla="*/ 141324 h 736242"/>
                      <a:gd name="connsiteX26" fmla="*/ 219923 w 712983"/>
                      <a:gd name="connsiteY26" fmla="*/ 163268 h 736242"/>
                      <a:gd name="connsiteX27" fmla="*/ 287394 w 712983"/>
                      <a:gd name="connsiteY27" fmla="*/ 6966 h 736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712983" h="736242">
                        <a:moveTo>
                          <a:pt x="356491" y="0"/>
                        </a:moveTo>
                        <a:lnTo>
                          <a:pt x="425590" y="6966"/>
                        </a:lnTo>
                        <a:lnTo>
                          <a:pt x="493060" y="163268"/>
                        </a:lnTo>
                        <a:lnTo>
                          <a:pt x="644436" y="141325"/>
                        </a:lnTo>
                        <a:lnTo>
                          <a:pt x="661743" y="162301"/>
                        </a:lnTo>
                        <a:cubicBezTo>
                          <a:pt x="674974" y="181885"/>
                          <a:pt x="686369" y="202811"/>
                          <a:pt x="695683" y="224832"/>
                        </a:cubicBezTo>
                        <a:lnTo>
                          <a:pt x="712983" y="280561"/>
                        </a:lnTo>
                        <a:lnTo>
                          <a:pt x="629629" y="368122"/>
                        </a:lnTo>
                        <a:lnTo>
                          <a:pt x="712982" y="455683"/>
                        </a:lnTo>
                        <a:lnTo>
                          <a:pt x="695683" y="511411"/>
                        </a:lnTo>
                        <a:cubicBezTo>
                          <a:pt x="686369" y="533431"/>
                          <a:pt x="674974" y="554357"/>
                          <a:pt x="661743" y="573941"/>
                        </a:cubicBezTo>
                        <a:lnTo>
                          <a:pt x="644435" y="594919"/>
                        </a:lnTo>
                        <a:lnTo>
                          <a:pt x="493060" y="572975"/>
                        </a:lnTo>
                        <a:lnTo>
                          <a:pt x="425590" y="729276"/>
                        </a:lnTo>
                        <a:lnTo>
                          <a:pt x="356491" y="736242"/>
                        </a:lnTo>
                        <a:lnTo>
                          <a:pt x="287394" y="729277"/>
                        </a:lnTo>
                        <a:lnTo>
                          <a:pt x="219923" y="572975"/>
                        </a:lnTo>
                        <a:lnTo>
                          <a:pt x="68548" y="594919"/>
                        </a:lnTo>
                        <a:lnTo>
                          <a:pt x="51239" y="573941"/>
                        </a:lnTo>
                        <a:cubicBezTo>
                          <a:pt x="38009" y="554357"/>
                          <a:pt x="26613" y="533431"/>
                          <a:pt x="17299" y="511411"/>
                        </a:cubicBezTo>
                        <a:lnTo>
                          <a:pt x="0" y="455684"/>
                        </a:lnTo>
                        <a:lnTo>
                          <a:pt x="83354" y="368122"/>
                        </a:lnTo>
                        <a:lnTo>
                          <a:pt x="0" y="280560"/>
                        </a:lnTo>
                        <a:lnTo>
                          <a:pt x="17299" y="224832"/>
                        </a:lnTo>
                        <a:cubicBezTo>
                          <a:pt x="26613" y="202811"/>
                          <a:pt x="38009" y="181885"/>
                          <a:pt x="51239" y="162301"/>
                        </a:cubicBezTo>
                        <a:lnTo>
                          <a:pt x="68547" y="141324"/>
                        </a:lnTo>
                        <a:lnTo>
                          <a:pt x="219923" y="163268"/>
                        </a:lnTo>
                        <a:lnTo>
                          <a:pt x="287394" y="696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" name="Oval 36"/>
                  <p:cNvSpPr/>
                  <p:nvPr/>
                </p:nvSpPr>
                <p:spPr>
                  <a:xfrm>
                    <a:off x="8253020" y="5080725"/>
                    <a:ext cx="332887" cy="33198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2131329" y="3469931"/>
                  <a:ext cx="388474" cy="401147"/>
                  <a:chOff x="8072366" y="4893264"/>
                  <a:chExt cx="712983" cy="736242"/>
                </a:xfrm>
              </p:grpSpPr>
              <p:sp>
                <p:nvSpPr>
                  <p:cNvPr id="34" name="Freeform 33"/>
                  <p:cNvSpPr/>
                  <p:nvPr/>
                </p:nvSpPr>
                <p:spPr>
                  <a:xfrm>
                    <a:off x="8072366" y="4893264"/>
                    <a:ext cx="712983" cy="736242"/>
                  </a:xfrm>
                  <a:custGeom>
                    <a:avLst/>
                    <a:gdLst>
                      <a:gd name="connsiteX0" fmla="*/ 356491 w 712983"/>
                      <a:gd name="connsiteY0" fmla="*/ 0 h 736242"/>
                      <a:gd name="connsiteX1" fmla="*/ 425590 w 712983"/>
                      <a:gd name="connsiteY1" fmla="*/ 6966 h 736242"/>
                      <a:gd name="connsiteX2" fmla="*/ 493060 w 712983"/>
                      <a:gd name="connsiteY2" fmla="*/ 163268 h 736242"/>
                      <a:gd name="connsiteX3" fmla="*/ 644436 w 712983"/>
                      <a:gd name="connsiteY3" fmla="*/ 141325 h 736242"/>
                      <a:gd name="connsiteX4" fmla="*/ 661743 w 712983"/>
                      <a:gd name="connsiteY4" fmla="*/ 162301 h 736242"/>
                      <a:gd name="connsiteX5" fmla="*/ 695683 w 712983"/>
                      <a:gd name="connsiteY5" fmla="*/ 224832 h 736242"/>
                      <a:gd name="connsiteX6" fmla="*/ 712983 w 712983"/>
                      <a:gd name="connsiteY6" fmla="*/ 280561 h 736242"/>
                      <a:gd name="connsiteX7" fmla="*/ 629629 w 712983"/>
                      <a:gd name="connsiteY7" fmla="*/ 368122 h 736242"/>
                      <a:gd name="connsiteX8" fmla="*/ 712982 w 712983"/>
                      <a:gd name="connsiteY8" fmla="*/ 455683 h 736242"/>
                      <a:gd name="connsiteX9" fmla="*/ 695683 w 712983"/>
                      <a:gd name="connsiteY9" fmla="*/ 511411 h 736242"/>
                      <a:gd name="connsiteX10" fmla="*/ 661743 w 712983"/>
                      <a:gd name="connsiteY10" fmla="*/ 573941 h 736242"/>
                      <a:gd name="connsiteX11" fmla="*/ 644435 w 712983"/>
                      <a:gd name="connsiteY11" fmla="*/ 594919 h 736242"/>
                      <a:gd name="connsiteX12" fmla="*/ 493060 w 712983"/>
                      <a:gd name="connsiteY12" fmla="*/ 572975 h 736242"/>
                      <a:gd name="connsiteX13" fmla="*/ 425590 w 712983"/>
                      <a:gd name="connsiteY13" fmla="*/ 729276 h 736242"/>
                      <a:gd name="connsiteX14" fmla="*/ 356491 w 712983"/>
                      <a:gd name="connsiteY14" fmla="*/ 736242 h 736242"/>
                      <a:gd name="connsiteX15" fmla="*/ 287394 w 712983"/>
                      <a:gd name="connsiteY15" fmla="*/ 729277 h 736242"/>
                      <a:gd name="connsiteX16" fmla="*/ 219923 w 712983"/>
                      <a:gd name="connsiteY16" fmla="*/ 572975 h 736242"/>
                      <a:gd name="connsiteX17" fmla="*/ 68548 w 712983"/>
                      <a:gd name="connsiteY17" fmla="*/ 594919 h 736242"/>
                      <a:gd name="connsiteX18" fmla="*/ 51239 w 712983"/>
                      <a:gd name="connsiteY18" fmla="*/ 573941 h 736242"/>
                      <a:gd name="connsiteX19" fmla="*/ 17299 w 712983"/>
                      <a:gd name="connsiteY19" fmla="*/ 511411 h 736242"/>
                      <a:gd name="connsiteX20" fmla="*/ 0 w 712983"/>
                      <a:gd name="connsiteY20" fmla="*/ 455684 h 736242"/>
                      <a:gd name="connsiteX21" fmla="*/ 83354 w 712983"/>
                      <a:gd name="connsiteY21" fmla="*/ 368122 h 736242"/>
                      <a:gd name="connsiteX22" fmla="*/ 0 w 712983"/>
                      <a:gd name="connsiteY22" fmla="*/ 280560 h 736242"/>
                      <a:gd name="connsiteX23" fmla="*/ 17299 w 712983"/>
                      <a:gd name="connsiteY23" fmla="*/ 224832 h 736242"/>
                      <a:gd name="connsiteX24" fmla="*/ 51239 w 712983"/>
                      <a:gd name="connsiteY24" fmla="*/ 162301 h 736242"/>
                      <a:gd name="connsiteX25" fmla="*/ 68547 w 712983"/>
                      <a:gd name="connsiteY25" fmla="*/ 141324 h 736242"/>
                      <a:gd name="connsiteX26" fmla="*/ 219923 w 712983"/>
                      <a:gd name="connsiteY26" fmla="*/ 163268 h 736242"/>
                      <a:gd name="connsiteX27" fmla="*/ 287394 w 712983"/>
                      <a:gd name="connsiteY27" fmla="*/ 6966 h 736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712983" h="736242">
                        <a:moveTo>
                          <a:pt x="356491" y="0"/>
                        </a:moveTo>
                        <a:lnTo>
                          <a:pt x="425590" y="6966"/>
                        </a:lnTo>
                        <a:lnTo>
                          <a:pt x="493060" y="163268"/>
                        </a:lnTo>
                        <a:lnTo>
                          <a:pt x="644436" y="141325"/>
                        </a:lnTo>
                        <a:lnTo>
                          <a:pt x="661743" y="162301"/>
                        </a:lnTo>
                        <a:cubicBezTo>
                          <a:pt x="674974" y="181885"/>
                          <a:pt x="686369" y="202811"/>
                          <a:pt x="695683" y="224832"/>
                        </a:cubicBezTo>
                        <a:lnTo>
                          <a:pt x="712983" y="280561"/>
                        </a:lnTo>
                        <a:lnTo>
                          <a:pt x="629629" y="368122"/>
                        </a:lnTo>
                        <a:lnTo>
                          <a:pt x="712982" y="455683"/>
                        </a:lnTo>
                        <a:lnTo>
                          <a:pt x="695683" y="511411"/>
                        </a:lnTo>
                        <a:cubicBezTo>
                          <a:pt x="686369" y="533431"/>
                          <a:pt x="674974" y="554357"/>
                          <a:pt x="661743" y="573941"/>
                        </a:cubicBezTo>
                        <a:lnTo>
                          <a:pt x="644435" y="594919"/>
                        </a:lnTo>
                        <a:lnTo>
                          <a:pt x="493060" y="572975"/>
                        </a:lnTo>
                        <a:lnTo>
                          <a:pt x="425590" y="729276"/>
                        </a:lnTo>
                        <a:lnTo>
                          <a:pt x="356491" y="736242"/>
                        </a:lnTo>
                        <a:lnTo>
                          <a:pt x="287394" y="729277"/>
                        </a:lnTo>
                        <a:lnTo>
                          <a:pt x="219923" y="572975"/>
                        </a:lnTo>
                        <a:lnTo>
                          <a:pt x="68548" y="594919"/>
                        </a:lnTo>
                        <a:lnTo>
                          <a:pt x="51239" y="573941"/>
                        </a:lnTo>
                        <a:cubicBezTo>
                          <a:pt x="38009" y="554357"/>
                          <a:pt x="26613" y="533431"/>
                          <a:pt x="17299" y="511411"/>
                        </a:cubicBezTo>
                        <a:lnTo>
                          <a:pt x="0" y="455684"/>
                        </a:lnTo>
                        <a:lnTo>
                          <a:pt x="83354" y="368122"/>
                        </a:lnTo>
                        <a:lnTo>
                          <a:pt x="0" y="280560"/>
                        </a:lnTo>
                        <a:lnTo>
                          <a:pt x="17299" y="224832"/>
                        </a:lnTo>
                        <a:cubicBezTo>
                          <a:pt x="26613" y="202811"/>
                          <a:pt x="38009" y="181885"/>
                          <a:pt x="51239" y="162301"/>
                        </a:cubicBezTo>
                        <a:lnTo>
                          <a:pt x="68547" y="141324"/>
                        </a:lnTo>
                        <a:lnTo>
                          <a:pt x="219923" y="163268"/>
                        </a:lnTo>
                        <a:lnTo>
                          <a:pt x="287394" y="696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" name="Oval 34"/>
                  <p:cNvSpPr/>
                  <p:nvPr/>
                </p:nvSpPr>
                <p:spPr>
                  <a:xfrm>
                    <a:off x="8253020" y="5080725"/>
                    <a:ext cx="332887" cy="33198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47" name="Freeform 46"/>
              <p:cNvSpPr/>
              <p:nvPr/>
            </p:nvSpPr>
            <p:spPr>
              <a:xfrm>
                <a:off x="1819409" y="3994857"/>
                <a:ext cx="348023" cy="401147"/>
              </a:xfrm>
              <a:custGeom>
                <a:avLst/>
                <a:gdLst>
                  <a:gd name="connsiteX0" fmla="*/ 356491 w 712983"/>
                  <a:gd name="connsiteY0" fmla="*/ 0 h 736242"/>
                  <a:gd name="connsiteX1" fmla="*/ 425590 w 712983"/>
                  <a:gd name="connsiteY1" fmla="*/ 6966 h 736242"/>
                  <a:gd name="connsiteX2" fmla="*/ 493060 w 712983"/>
                  <a:gd name="connsiteY2" fmla="*/ 163268 h 736242"/>
                  <a:gd name="connsiteX3" fmla="*/ 644436 w 712983"/>
                  <a:gd name="connsiteY3" fmla="*/ 141325 h 736242"/>
                  <a:gd name="connsiteX4" fmla="*/ 661743 w 712983"/>
                  <a:gd name="connsiteY4" fmla="*/ 162301 h 736242"/>
                  <a:gd name="connsiteX5" fmla="*/ 695683 w 712983"/>
                  <a:gd name="connsiteY5" fmla="*/ 224832 h 736242"/>
                  <a:gd name="connsiteX6" fmla="*/ 712983 w 712983"/>
                  <a:gd name="connsiteY6" fmla="*/ 280561 h 736242"/>
                  <a:gd name="connsiteX7" fmla="*/ 629629 w 712983"/>
                  <a:gd name="connsiteY7" fmla="*/ 368122 h 736242"/>
                  <a:gd name="connsiteX8" fmla="*/ 712982 w 712983"/>
                  <a:gd name="connsiteY8" fmla="*/ 455683 h 736242"/>
                  <a:gd name="connsiteX9" fmla="*/ 695683 w 712983"/>
                  <a:gd name="connsiteY9" fmla="*/ 511411 h 736242"/>
                  <a:gd name="connsiteX10" fmla="*/ 661743 w 712983"/>
                  <a:gd name="connsiteY10" fmla="*/ 573941 h 736242"/>
                  <a:gd name="connsiteX11" fmla="*/ 644435 w 712983"/>
                  <a:gd name="connsiteY11" fmla="*/ 594919 h 736242"/>
                  <a:gd name="connsiteX12" fmla="*/ 493060 w 712983"/>
                  <a:gd name="connsiteY12" fmla="*/ 572975 h 736242"/>
                  <a:gd name="connsiteX13" fmla="*/ 425590 w 712983"/>
                  <a:gd name="connsiteY13" fmla="*/ 729276 h 736242"/>
                  <a:gd name="connsiteX14" fmla="*/ 356491 w 712983"/>
                  <a:gd name="connsiteY14" fmla="*/ 736242 h 736242"/>
                  <a:gd name="connsiteX15" fmla="*/ 287394 w 712983"/>
                  <a:gd name="connsiteY15" fmla="*/ 729277 h 736242"/>
                  <a:gd name="connsiteX16" fmla="*/ 219923 w 712983"/>
                  <a:gd name="connsiteY16" fmla="*/ 572975 h 736242"/>
                  <a:gd name="connsiteX17" fmla="*/ 68548 w 712983"/>
                  <a:gd name="connsiteY17" fmla="*/ 594919 h 736242"/>
                  <a:gd name="connsiteX18" fmla="*/ 51239 w 712983"/>
                  <a:gd name="connsiteY18" fmla="*/ 573941 h 736242"/>
                  <a:gd name="connsiteX19" fmla="*/ 17299 w 712983"/>
                  <a:gd name="connsiteY19" fmla="*/ 511411 h 736242"/>
                  <a:gd name="connsiteX20" fmla="*/ 0 w 712983"/>
                  <a:gd name="connsiteY20" fmla="*/ 455684 h 736242"/>
                  <a:gd name="connsiteX21" fmla="*/ 83354 w 712983"/>
                  <a:gd name="connsiteY21" fmla="*/ 368122 h 736242"/>
                  <a:gd name="connsiteX22" fmla="*/ 0 w 712983"/>
                  <a:gd name="connsiteY22" fmla="*/ 280560 h 736242"/>
                  <a:gd name="connsiteX23" fmla="*/ 17299 w 712983"/>
                  <a:gd name="connsiteY23" fmla="*/ 224832 h 736242"/>
                  <a:gd name="connsiteX24" fmla="*/ 51239 w 712983"/>
                  <a:gd name="connsiteY24" fmla="*/ 162301 h 736242"/>
                  <a:gd name="connsiteX25" fmla="*/ 68547 w 712983"/>
                  <a:gd name="connsiteY25" fmla="*/ 141324 h 736242"/>
                  <a:gd name="connsiteX26" fmla="*/ 219923 w 712983"/>
                  <a:gd name="connsiteY26" fmla="*/ 163268 h 736242"/>
                  <a:gd name="connsiteX27" fmla="*/ 287394 w 712983"/>
                  <a:gd name="connsiteY27" fmla="*/ 6966 h 73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2983" h="736242">
                    <a:moveTo>
                      <a:pt x="356491" y="0"/>
                    </a:moveTo>
                    <a:lnTo>
                      <a:pt x="425590" y="6966"/>
                    </a:lnTo>
                    <a:lnTo>
                      <a:pt x="493060" y="163268"/>
                    </a:lnTo>
                    <a:lnTo>
                      <a:pt x="644436" y="141325"/>
                    </a:lnTo>
                    <a:lnTo>
                      <a:pt x="661743" y="162301"/>
                    </a:lnTo>
                    <a:cubicBezTo>
                      <a:pt x="674974" y="181885"/>
                      <a:pt x="686369" y="202811"/>
                      <a:pt x="695683" y="224832"/>
                    </a:cubicBezTo>
                    <a:lnTo>
                      <a:pt x="712983" y="280561"/>
                    </a:lnTo>
                    <a:lnTo>
                      <a:pt x="629629" y="368122"/>
                    </a:lnTo>
                    <a:lnTo>
                      <a:pt x="712982" y="455683"/>
                    </a:lnTo>
                    <a:lnTo>
                      <a:pt x="695683" y="511411"/>
                    </a:lnTo>
                    <a:cubicBezTo>
                      <a:pt x="686369" y="533431"/>
                      <a:pt x="674974" y="554357"/>
                      <a:pt x="661743" y="573941"/>
                    </a:cubicBezTo>
                    <a:lnTo>
                      <a:pt x="644435" y="594919"/>
                    </a:lnTo>
                    <a:lnTo>
                      <a:pt x="493060" y="572975"/>
                    </a:lnTo>
                    <a:lnTo>
                      <a:pt x="425590" y="729276"/>
                    </a:lnTo>
                    <a:lnTo>
                      <a:pt x="356491" y="736242"/>
                    </a:lnTo>
                    <a:lnTo>
                      <a:pt x="287394" y="729277"/>
                    </a:lnTo>
                    <a:lnTo>
                      <a:pt x="219923" y="572975"/>
                    </a:lnTo>
                    <a:lnTo>
                      <a:pt x="68548" y="594919"/>
                    </a:lnTo>
                    <a:lnTo>
                      <a:pt x="51239" y="573941"/>
                    </a:lnTo>
                    <a:cubicBezTo>
                      <a:pt x="38009" y="554357"/>
                      <a:pt x="26613" y="533431"/>
                      <a:pt x="17299" y="511411"/>
                    </a:cubicBezTo>
                    <a:lnTo>
                      <a:pt x="0" y="455684"/>
                    </a:lnTo>
                    <a:lnTo>
                      <a:pt x="83354" y="368122"/>
                    </a:lnTo>
                    <a:lnTo>
                      <a:pt x="0" y="280560"/>
                    </a:lnTo>
                    <a:lnTo>
                      <a:pt x="17299" y="224832"/>
                    </a:lnTo>
                    <a:cubicBezTo>
                      <a:pt x="26613" y="202811"/>
                      <a:pt x="38009" y="181885"/>
                      <a:pt x="51239" y="162301"/>
                    </a:cubicBezTo>
                    <a:lnTo>
                      <a:pt x="68547" y="141324"/>
                    </a:lnTo>
                    <a:lnTo>
                      <a:pt x="219923" y="163268"/>
                    </a:lnTo>
                    <a:lnTo>
                      <a:pt x="287394" y="69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 47"/>
              <p:cNvSpPr/>
              <p:nvPr/>
            </p:nvSpPr>
            <p:spPr>
              <a:xfrm>
                <a:off x="2536095" y="3987068"/>
                <a:ext cx="348023" cy="401147"/>
              </a:xfrm>
              <a:custGeom>
                <a:avLst/>
                <a:gdLst>
                  <a:gd name="connsiteX0" fmla="*/ 356491 w 712983"/>
                  <a:gd name="connsiteY0" fmla="*/ 0 h 736242"/>
                  <a:gd name="connsiteX1" fmla="*/ 425590 w 712983"/>
                  <a:gd name="connsiteY1" fmla="*/ 6966 h 736242"/>
                  <a:gd name="connsiteX2" fmla="*/ 493060 w 712983"/>
                  <a:gd name="connsiteY2" fmla="*/ 163268 h 736242"/>
                  <a:gd name="connsiteX3" fmla="*/ 644436 w 712983"/>
                  <a:gd name="connsiteY3" fmla="*/ 141325 h 736242"/>
                  <a:gd name="connsiteX4" fmla="*/ 661743 w 712983"/>
                  <a:gd name="connsiteY4" fmla="*/ 162301 h 736242"/>
                  <a:gd name="connsiteX5" fmla="*/ 695683 w 712983"/>
                  <a:gd name="connsiteY5" fmla="*/ 224832 h 736242"/>
                  <a:gd name="connsiteX6" fmla="*/ 712983 w 712983"/>
                  <a:gd name="connsiteY6" fmla="*/ 280561 h 736242"/>
                  <a:gd name="connsiteX7" fmla="*/ 629629 w 712983"/>
                  <a:gd name="connsiteY7" fmla="*/ 368122 h 736242"/>
                  <a:gd name="connsiteX8" fmla="*/ 712982 w 712983"/>
                  <a:gd name="connsiteY8" fmla="*/ 455683 h 736242"/>
                  <a:gd name="connsiteX9" fmla="*/ 695683 w 712983"/>
                  <a:gd name="connsiteY9" fmla="*/ 511411 h 736242"/>
                  <a:gd name="connsiteX10" fmla="*/ 661743 w 712983"/>
                  <a:gd name="connsiteY10" fmla="*/ 573941 h 736242"/>
                  <a:gd name="connsiteX11" fmla="*/ 644435 w 712983"/>
                  <a:gd name="connsiteY11" fmla="*/ 594919 h 736242"/>
                  <a:gd name="connsiteX12" fmla="*/ 493060 w 712983"/>
                  <a:gd name="connsiteY12" fmla="*/ 572975 h 736242"/>
                  <a:gd name="connsiteX13" fmla="*/ 425590 w 712983"/>
                  <a:gd name="connsiteY13" fmla="*/ 729276 h 736242"/>
                  <a:gd name="connsiteX14" fmla="*/ 356491 w 712983"/>
                  <a:gd name="connsiteY14" fmla="*/ 736242 h 736242"/>
                  <a:gd name="connsiteX15" fmla="*/ 287394 w 712983"/>
                  <a:gd name="connsiteY15" fmla="*/ 729277 h 736242"/>
                  <a:gd name="connsiteX16" fmla="*/ 219923 w 712983"/>
                  <a:gd name="connsiteY16" fmla="*/ 572975 h 736242"/>
                  <a:gd name="connsiteX17" fmla="*/ 68548 w 712983"/>
                  <a:gd name="connsiteY17" fmla="*/ 594919 h 736242"/>
                  <a:gd name="connsiteX18" fmla="*/ 51239 w 712983"/>
                  <a:gd name="connsiteY18" fmla="*/ 573941 h 736242"/>
                  <a:gd name="connsiteX19" fmla="*/ 17299 w 712983"/>
                  <a:gd name="connsiteY19" fmla="*/ 511411 h 736242"/>
                  <a:gd name="connsiteX20" fmla="*/ 0 w 712983"/>
                  <a:gd name="connsiteY20" fmla="*/ 455684 h 736242"/>
                  <a:gd name="connsiteX21" fmla="*/ 83354 w 712983"/>
                  <a:gd name="connsiteY21" fmla="*/ 368122 h 736242"/>
                  <a:gd name="connsiteX22" fmla="*/ 0 w 712983"/>
                  <a:gd name="connsiteY22" fmla="*/ 280560 h 736242"/>
                  <a:gd name="connsiteX23" fmla="*/ 17299 w 712983"/>
                  <a:gd name="connsiteY23" fmla="*/ 224832 h 736242"/>
                  <a:gd name="connsiteX24" fmla="*/ 51239 w 712983"/>
                  <a:gd name="connsiteY24" fmla="*/ 162301 h 736242"/>
                  <a:gd name="connsiteX25" fmla="*/ 68547 w 712983"/>
                  <a:gd name="connsiteY25" fmla="*/ 141324 h 736242"/>
                  <a:gd name="connsiteX26" fmla="*/ 219923 w 712983"/>
                  <a:gd name="connsiteY26" fmla="*/ 163268 h 736242"/>
                  <a:gd name="connsiteX27" fmla="*/ 287394 w 712983"/>
                  <a:gd name="connsiteY27" fmla="*/ 6966 h 73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2983" h="736242">
                    <a:moveTo>
                      <a:pt x="356491" y="0"/>
                    </a:moveTo>
                    <a:lnTo>
                      <a:pt x="425590" y="6966"/>
                    </a:lnTo>
                    <a:lnTo>
                      <a:pt x="493060" y="163268"/>
                    </a:lnTo>
                    <a:lnTo>
                      <a:pt x="644436" y="141325"/>
                    </a:lnTo>
                    <a:lnTo>
                      <a:pt x="661743" y="162301"/>
                    </a:lnTo>
                    <a:cubicBezTo>
                      <a:pt x="674974" y="181885"/>
                      <a:pt x="686369" y="202811"/>
                      <a:pt x="695683" y="224832"/>
                    </a:cubicBezTo>
                    <a:lnTo>
                      <a:pt x="712983" y="280561"/>
                    </a:lnTo>
                    <a:lnTo>
                      <a:pt x="629629" y="368122"/>
                    </a:lnTo>
                    <a:lnTo>
                      <a:pt x="712982" y="455683"/>
                    </a:lnTo>
                    <a:lnTo>
                      <a:pt x="695683" y="511411"/>
                    </a:lnTo>
                    <a:cubicBezTo>
                      <a:pt x="686369" y="533431"/>
                      <a:pt x="674974" y="554357"/>
                      <a:pt x="661743" y="573941"/>
                    </a:cubicBezTo>
                    <a:lnTo>
                      <a:pt x="644435" y="594919"/>
                    </a:lnTo>
                    <a:lnTo>
                      <a:pt x="493060" y="572975"/>
                    </a:lnTo>
                    <a:lnTo>
                      <a:pt x="425590" y="729276"/>
                    </a:lnTo>
                    <a:lnTo>
                      <a:pt x="356491" y="736242"/>
                    </a:lnTo>
                    <a:lnTo>
                      <a:pt x="287394" y="729277"/>
                    </a:lnTo>
                    <a:lnTo>
                      <a:pt x="219923" y="572975"/>
                    </a:lnTo>
                    <a:lnTo>
                      <a:pt x="68548" y="594919"/>
                    </a:lnTo>
                    <a:lnTo>
                      <a:pt x="51239" y="573941"/>
                    </a:lnTo>
                    <a:cubicBezTo>
                      <a:pt x="38009" y="554357"/>
                      <a:pt x="26613" y="533431"/>
                      <a:pt x="17299" y="511411"/>
                    </a:cubicBezTo>
                    <a:lnTo>
                      <a:pt x="0" y="455684"/>
                    </a:lnTo>
                    <a:lnTo>
                      <a:pt x="83354" y="368122"/>
                    </a:lnTo>
                    <a:lnTo>
                      <a:pt x="0" y="280560"/>
                    </a:lnTo>
                    <a:lnTo>
                      <a:pt x="17299" y="224832"/>
                    </a:lnTo>
                    <a:cubicBezTo>
                      <a:pt x="26613" y="202811"/>
                      <a:pt x="38009" y="181885"/>
                      <a:pt x="51239" y="162301"/>
                    </a:cubicBezTo>
                    <a:lnTo>
                      <a:pt x="68547" y="141324"/>
                    </a:lnTo>
                    <a:lnTo>
                      <a:pt x="219923" y="163268"/>
                    </a:lnTo>
                    <a:lnTo>
                      <a:pt x="287394" y="69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2634526" y="4089208"/>
                <a:ext cx="162490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916329" y="4114965"/>
                <a:ext cx="162490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9" name="Picture 5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118" b="20950"/>
              <a:stretch/>
            </p:blipFill>
            <p:spPr>
              <a:xfrm>
                <a:off x="1278424" y="2867936"/>
                <a:ext cx="1109033" cy="1021328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76" t="8556" r="3537" b="14723"/>
              <a:stretch/>
            </p:blipFill>
            <p:spPr>
              <a:xfrm>
                <a:off x="1430054" y="2928701"/>
                <a:ext cx="475738" cy="399385"/>
              </a:xfrm>
              <a:prstGeom prst="rect">
                <a:avLst/>
              </a:prstGeom>
            </p:spPr>
          </p:pic>
          <p:sp>
            <p:nvSpPr>
              <p:cNvPr id="61" name="Rectangle 60"/>
              <p:cNvSpPr/>
              <p:nvPr/>
            </p:nvSpPr>
            <p:spPr>
              <a:xfrm>
                <a:off x="3225079" y="3952787"/>
                <a:ext cx="1749166" cy="412124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3601673" y="3066976"/>
                <a:ext cx="875027" cy="805828"/>
                <a:chOff x="3915273" y="1247632"/>
                <a:chExt cx="1109033" cy="1021328"/>
              </a:xfrm>
            </p:grpSpPr>
            <p:pic>
              <p:nvPicPr>
                <p:cNvPr id="62" name="Picture 61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3118" b="20950"/>
                <a:stretch/>
              </p:blipFill>
              <p:spPr>
                <a:xfrm>
                  <a:off x="3915273" y="1247632"/>
                  <a:ext cx="1109033" cy="1021328"/>
                </a:xfrm>
                <a:prstGeom prst="rect">
                  <a:avLst/>
                </a:prstGeom>
              </p:spPr>
            </p:pic>
            <p:pic>
              <p:nvPicPr>
                <p:cNvPr id="63" name="Picture 62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76" t="8556" r="3537" b="14723"/>
                <a:stretch/>
              </p:blipFill>
              <p:spPr>
                <a:xfrm>
                  <a:off x="4231920" y="1490061"/>
                  <a:ext cx="475738" cy="399385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oup 66"/>
              <p:cNvGrpSpPr/>
              <p:nvPr/>
            </p:nvGrpSpPr>
            <p:grpSpPr>
              <a:xfrm>
                <a:off x="5196753" y="3985294"/>
                <a:ext cx="990082" cy="408936"/>
                <a:chOff x="1414643" y="3469931"/>
                <a:chExt cx="1105160" cy="408936"/>
              </a:xfrm>
            </p:grpSpPr>
            <p:grpSp>
              <p:nvGrpSpPr>
                <p:cNvPr id="68" name="Group 67"/>
                <p:cNvGrpSpPr/>
                <p:nvPr/>
              </p:nvGrpSpPr>
              <p:grpSpPr>
                <a:xfrm>
                  <a:off x="1414643" y="3477720"/>
                  <a:ext cx="388474" cy="401147"/>
                  <a:chOff x="8072366" y="4893264"/>
                  <a:chExt cx="712983" cy="736242"/>
                </a:xfrm>
              </p:grpSpPr>
              <p:sp>
                <p:nvSpPr>
                  <p:cNvPr id="75" name="Freeform 74"/>
                  <p:cNvSpPr/>
                  <p:nvPr/>
                </p:nvSpPr>
                <p:spPr>
                  <a:xfrm>
                    <a:off x="8072366" y="4893264"/>
                    <a:ext cx="712983" cy="736242"/>
                  </a:xfrm>
                  <a:custGeom>
                    <a:avLst/>
                    <a:gdLst>
                      <a:gd name="connsiteX0" fmla="*/ 356491 w 712983"/>
                      <a:gd name="connsiteY0" fmla="*/ 0 h 736242"/>
                      <a:gd name="connsiteX1" fmla="*/ 425590 w 712983"/>
                      <a:gd name="connsiteY1" fmla="*/ 6966 h 736242"/>
                      <a:gd name="connsiteX2" fmla="*/ 493060 w 712983"/>
                      <a:gd name="connsiteY2" fmla="*/ 163268 h 736242"/>
                      <a:gd name="connsiteX3" fmla="*/ 644436 w 712983"/>
                      <a:gd name="connsiteY3" fmla="*/ 141325 h 736242"/>
                      <a:gd name="connsiteX4" fmla="*/ 661743 w 712983"/>
                      <a:gd name="connsiteY4" fmla="*/ 162301 h 736242"/>
                      <a:gd name="connsiteX5" fmla="*/ 695683 w 712983"/>
                      <a:gd name="connsiteY5" fmla="*/ 224832 h 736242"/>
                      <a:gd name="connsiteX6" fmla="*/ 712983 w 712983"/>
                      <a:gd name="connsiteY6" fmla="*/ 280561 h 736242"/>
                      <a:gd name="connsiteX7" fmla="*/ 629629 w 712983"/>
                      <a:gd name="connsiteY7" fmla="*/ 368122 h 736242"/>
                      <a:gd name="connsiteX8" fmla="*/ 712982 w 712983"/>
                      <a:gd name="connsiteY8" fmla="*/ 455683 h 736242"/>
                      <a:gd name="connsiteX9" fmla="*/ 695683 w 712983"/>
                      <a:gd name="connsiteY9" fmla="*/ 511411 h 736242"/>
                      <a:gd name="connsiteX10" fmla="*/ 661743 w 712983"/>
                      <a:gd name="connsiteY10" fmla="*/ 573941 h 736242"/>
                      <a:gd name="connsiteX11" fmla="*/ 644435 w 712983"/>
                      <a:gd name="connsiteY11" fmla="*/ 594919 h 736242"/>
                      <a:gd name="connsiteX12" fmla="*/ 493060 w 712983"/>
                      <a:gd name="connsiteY12" fmla="*/ 572975 h 736242"/>
                      <a:gd name="connsiteX13" fmla="*/ 425590 w 712983"/>
                      <a:gd name="connsiteY13" fmla="*/ 729276 h 736242"/>
                      <a:gd name="connsiteX14" fmla="*/ 356491 w 712983"/>
                      <a:gd name="connsiteY14" fmla="*/ 736242 h 736242"/>
                      <a:gd name="connsiteX15" fmla="*/ 287394 w 712983"/>
                      <a:gd name="connsiteY15" fmla="*/ 729277 h 736242"/>
                      <a:gd name="connsiteX16" fmla="*/ 219923 w 712983"/>
                      <a:gd name="connsiteY16" fmla="*/ 572975 h 736242"/>
                      <a:gd name="connsiteX17" fmla="*/ 68548 w 712983"/>
                      <a:gd name="connsiteY17" fmla="*/ 594919 h 736242"/>
                      <a:gd name="connsiteX18" fmla="*/ 51239 w 712983"/>
                      <a:gd name="connsiteY18" fmla="*/ 573941 h 736242"/>
                      <a:gd name="connsiteX19" fmla="*/ 17299 w 712983"/>
                      <a:gd name="connsiteY19" fmla="*/ 511411 h 736242"/>
                      <a:gd name="connsiteX20" fmla="*/ 0 w 712983"/>
                      <a:gd name="connsiteY20" fmla="*/ 455684 h 736242"/>
                      <a:gd name="connsiteX21" fmla="*/ 83354 w 712983"/>
                      <a:gd name="connsiteY21" fmla="*/ 368122 h 736242"/>
                      <a:gd name="connsiteX22" fmla="*/ 0 w 712983"/>
                      <a:gd name="connsiteY22" fmla="*/ 280560 h 736242"/>
                      <a:gd name="connsiteX23" fmla="*/ 17299 w 712983"/>
                      <a:gd name="connsiteY23" fmla="*/ 224832 h 736242"/>
                      <a:gd name="connsiteX24" fmla="*/ 51239 w 712983"/>
                      <a:gd name="connsiteY24" fmla="*/ 162301 h 736242"/>
                      <a:gd name="connsiteX25" fmla="*/ 68547 w 712983"/>
                      <a:gd name="connsiteY25" fmla="*/ 141324 h 736242"/>
                      <a:gd name="connsiteX26" fmla="*/ 219923 w 712983"/>
                      <a:gd name="connsiteY26" fmla="*/ 163268 h 736242"/>
                      <a:gd name="connsiteX27" fmla="*/ 287394 w 712983"/>
                      <a:gd name="connsiteY27" fmla="*/ 6966 h 736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712983" h="736242">
                        <a:moveTo>
                          <a:pt x="356491" y="0"/>
                        </a:moveTo>
                        <a:lnTo>
                          <a:pt x="425590" y="6966"/>
                        </a:lnTo>
                        <a:lnTo>
                          <a:pt x="493060" y="163268"/>
                        </a:lnTo>
                        <a:lnTo>
                          <a:pt x="644436" y="141325"/>
                        </a:lnTo>
                        <a:lnTo>
                          <a:pt x="661743" y="162301"/>
                        </a:lnTo>
                        <a:cubicBezTo>
                          <a:pt x="674974" y="181885"/>
                          <a:pt x="686369" y="202811"/>
                          <a:pt x="695683" y="224832"/>
                        </a:cubicBezTo>
                        <a:lnTo>
                          <a:pt x="712983" y="280561"/>
                        </a:lnTo>
                        <a:lnTo>
                          <a:pt x="629629" y="368122"/>
                        </a:lnTo>
                        <a:lnTo>
                          <a:pt x="712982" y="455683"/>
                        </a:lnTo>
                        <a:lnTo>
                          <a:pt x="695683" y="511411"/>
                        </a:lnTo>
                        <a:cubicBezTo>
                          <a:pt x="686369" y="533431"/>
                          <a:pt x="674974" y="554357"/>
                          <a:pt x="661743" y="573941"/>
                        </a:cubicBezTo>
                        <a:lnTo>
                          <a:pt x="644435" y="594919"/>
                        </a:lnTo>
                        <a:lnTo>
                          <a:pt x="493060" y="572975"/>
                        </a:lnTo>
                        <a:lnTo>
                          <a:pt x="425590" y="729276"/>
                        </a:lnTo>
                        <a:lnTo>
                          <a:pt x="356491" y="736242"/>
                        </a:lnTo>
                        <a:lnTo>
                          <a:pt x="287394" y="729277"/>
                        </a:lnTo>
                        <a:lnTo>
                          <a:pt x="219923" y="572975"/>
                        </a:lnTo>
                        <a:lnTo>
                          <a:pt x="68548" y="594919"/>
                        </a:lnTo>
                        <a:lnTo>
                          <a:pt x="51239" y="573941"/>
                        </a:lnTo>
                        <a:cubicBezTo>
                          <a:pt x="38009" y="554357"/>
                          <a:pt x="26613" y="533431"/>
                          <a:pt x="17299" y="511411"/>
                        </a:cubicBezTo>
                        <a:lnTo>
                          <a:pt x="0" y="455684"/>
                        </a:lnTo>
                        <a:lnTo>
                          <a:pt x="83354" y="368122"/>
                        </a:lnTo>
                        <a:lnTo>
                          <a:pt x="0" y="280560"/>
                        </a:lnTo>
                        <a:lnTo>
                          <a:pt x="17299" y="224832"/>
                        </a:lnTo>
                        <a:cubicBezTo>
                          <a:pt x="26613" y="202811"/>
                          <a:pt x="38009" y="181885"/>
                          <a:pt x="51239" y="162301"/>
                        </a:cubicBezTo>
                        <a:lnTo>
                          <a:pt x="68547" y="141324"/>
                        </a:lnTo>
                        <a:lnTo>
                          <a:pt x="219923" y="163268"/>
                        </a:lnTo>
                        <a:lnTo>
                          <a:pt x="287394" y="696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Oval 75"/>
                  <p:cNvSpPr/>
                  <p:nvPr/>
                </p:nvSpPr>
                <p:spPr>
                  <a:xfrm>
                    <a:off x="8253020" y="5080725"/>
                    <a:ext cx="332887" cy="33198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" name="Group 68"/>
                <p:cNvGrpSpPr/>
                <p:nvPr/>
              </p:nvGrpSpPr>
              <p:grpSpPr>
                <a:xfrm>
                  <a:off x="2131329" y="3469931"/>
                  <a:ext cx="388474" cy="401147"/>
                  <a:chOff x="8072366" y="4893264"/>
                  <a:chExt cx="712983" cy="736242"/>
                </a:xfrm>
              </p:grpSpPr>
              <p:sp>
                <p:nvSpPr>
                  <p:cNvPr id="73" name="Freeform 72"/>
                  <p:cNvSpPr/>
                  <p:nvPr/>
                </p:nvSpPr>
                <p:spPr>
                  <a:xfrm>
                    <a:off x="8072366" y="4893264"/>
                    <a:ext cx="712983" cy="736242"/>
                  </a:xfrm>
                  <a:custGeom>
                    <a:avLst/>
                    <a:gdLst>
                      <a:gd name="connsiteX0" fmla="*/ 356491 w 712983"/>
                      <a:gd name="connsiteY0" fmla="*/ 0 h 736242"/>
                      <a:gd name="connsiteX1" fmla="*/ 425590 w 712983"/>
                      <a:gd name="connsiteY1" fmla="*/ 6966 h 736242"/>
                      <a:gd name="connsiteX2" fmla="*/ 493060 w 712983"/>
                      <a:gd name="connsiteY2" fmla="*/ 163268 h 736242"/>
                      <a:gd name="connsiteX3" fmla="*/ 644436 w 712983"/>
                      <a:gd name="connsiteY3" fmla="*/ 141325 h 736242"/>
                      <a:gd name="connsiteX4" fmla="*/ 661743 w 712983"/>
                      <a:gd name="connsiteY4" fmla="*/ 162301 h 736242"/>
                      <a:gd name="connsiteX5" fmla="*/ 695683 w 712983"/>
                      <a:gd name="connsiteY5" fmla="*/ 224832 h 736242"/>
                      <a:gd name="connsiteX6" fmla="*/ 712983 w 712983"/>
                      <a:gd name="connsiteY6" fmla="*/ 280561 h 736242"/>
                      <a:gd name="connsiteX7" fmla="*/ 629629 w 712983"/>
                      <a:gd name="connsiteY7" fmla="*/ 368122 h 736242"/>
                      <a:gd name="connsiteX8" fmla="*/ 712982 w 712983"/>
                      <a:gd name="connsiteY8" fmla="*/ 455683 h 736242"/>
                      <a:gd name="connsiteX9" fmla="*/ 695683 w 712983"/>
                      <a:gd name="connsiteY9" fmla="*/ 511411 h 736242"/>
                      <a:gd name="connsiteX10" fmla="*/ 661743 w 712983"/>
                      <a:gd name="connsiteY10" fmla="*/ 573941 h 736242"/>
                      <a:gd name="connsiteX11" fmla="*/ 644435 w 712983"/>
                      <a:gd name="connsiteY11" fmla="*/ 594919 h 736242"/>
                      <a:gd name="connsiteX12" fmla="*/ 493060 w 712983"/>
                      <a:gd name="connsiteY12" fmla="*/ 572975 h 736242"/>
                      <a:gd name="connsiteX13" fmla="*/ 425590 w 712983"/>
                      <a:gd name="connsiteY13" fmla="*/ 729276 h 736242"/>
                      <a:gd name="connsiteX14" fmla="*/ 356491 w 712983"/>
                      <a:gd name="connsiteY14" fmla="*/ 736242 h 736242"/>
                      <a:gd name="connsiteX15" fmla="*/ 287394 w 712983"/>
                      <a:gd name="connsiteY15" fmla="*/ 729277 h 736242"/>
                      <a:gd name="connsiteX16" fmla="*/ 219923 w 712983"/>
                      <a:gd name="connsiteY16" fmla="*/ 572975 h 736242"/>
                      <a:gd name="connsiteX17" fmla="*/ 68548 w 712983"/>
                      <a:gd name="connsiteY17" fmla="*/ 594919 h 736242"/>
                      <a:gd name="connsiteX18" fmla="*/ 51239 w 712983"/>
                      <a:gd name="connsiteY18" fmla="*/ 573941 h 736242"/>
                      <a:gd name="connsiteX19" fmla="*/ 17299 w 712983"/>
                      <a:gd name="connsiteY19" fmla="*/ 511411 h 736242"/>
                      <a:gd name="connsiteX20" fmla="*/ 0 w 712983"/>
                      <a:gd name="connsiteY20" fmla="*/ 455684 h 736242"/>
                      <a:gd name="connsiteX21" fmla="*/ 83354 w 712983"/>
                      <a:gd name="connsiteY21" fmla="*/ 368122 h 736242"/>
                      <a:gd name="connsiteX22" fmla="*/ 0 w 712983"/>
                      <a:gd name="connsiteY22" fmla="*/ 280560 h 736242"/>
                      <a:gd name="connsiteX23" fmla="*/ 17299 w 712983"/>
                      <a:gd name="connsiteY23" fmla="*/ 224832 h 736242"/>
                      <a:gd name="connsiteX24" fmla="*/ 51239 w 712983"/>
                      <a:gd name="connsiteY24" fmla="*/ 162301 h 736242"/>
                      <a:gd name="connsiteX25" fmla="*/ 68547 w 712983"/>
                      <a:gd name="connsiteY25" fmla="*/ 141324 h 736242"/>
                      <a:gd name="connsiteX26" fmla="*/ 219923 w 712983"/>
                      <a:gd name="connsiteY26" fmla="*/ 163268 h 736242"/>
                      <a:gd name="connsiteX27" fmla="*/ 287394 w 712983"/>
                      <a:gd name="connsiteY27" fmla="*/ 6966 h 7362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712983" h="736242">
                        <a:moveTo>
                          <a:pt x="356491" y="0"/>
                        </a:moveTo>
                        <a:lnTo>
                          <a:pt x="425590" y="6966"/>
                        </a:lnTo>
                        <a:lnTo>
                          <a:pt x="493060" y="163268"/>
                        </a:lnTo>
                        <a:lnTo>
                          <a:pt x="644436" y="141325"/>
                        </a:lnTo>
                        <a:lnTo>
                          <a:pt x="661743" y="162301"/>
                        </a:lnTo>
                        <a:cubicBezTo>
                          <a:pt x="674974" y="181885"/>
                          <a:pt x="686369" y="202811"/>
                          <a:pt x="695683" y="224832"/>
                        </a:cubicBezTo>
                        <a:lnTo>
                          <a:pt x="712983" y="280561"/>
                        </a:lnTo>
                        <a:lnTo>
                          <a:pt x="629629" y="368122"/>
                        </a:lnTo>
                        <a:lnTo>
                          <a:pt x="712982" y="455683"/>
                        </a:lnTo>
                        <a:lnTo>
                          <a:pt x="695683" y="511411"/>
                        </a:lnTo>
                        <a:cubicBezTo>
                          <a:pt x="686369" y="533431"/>
                          <a:pt x="674974" y="554357"/>
                          <a:pt x="661743" y="573941"/>
                        </a:cubicBezTo>
                        <a:lnTo>
                          <a:pt x="644435" y="594919"/>
                        </a:lnTo>
                        <a:lnTo>
                          <a:pt x="493060" y="572975"/>
                        </a:lnTo>
                        <a:lnTo>
                          <a:pt x="425590" y="729276"/>
                        </a:lnTo>
                        <a:lnTo>
                          <a:pt x="356491" y="736242"/>
                        </a:lnTo>
                        <a:lnTo>
                          <a:pt x="287394" y="729277"/>
                        </a:lnTo>
                        <a:lnTo>
                          <a:pt x="219923" y="572975"/>
                        </a:lnTo>
                        <a:lnTo>
                          <a:pt x="68548" y="594919"/>
                        </a:lnTo>
                        <a:lnTo>
                          <a:pt x="51239" y="573941"/>
                        </a:lnTo>
                        <a:cubicBezTo>
                          <a:pt x="38009" y="554357"/>
                          <a:pt x="26613" y="533431"/>
                          <a:pt x="17299" y="511411"/>
                        </a:cubicBezTo>
                        <a:lnTo>
                          <a:pt x="0" y="455684"/>
                        </a:lnTo>
                        <a:lnTo>
                          <a:pt x="83354" y="368122"/>
                        </a:lnTo>
                        <a:lnTo>
                          <a:pt x="0" y="280560"/>
                        </a:lnTo>
                        <a:lnTo>
                          <a:pt x="17299" y="224832"/>
                        </a:lnTo>
                        <a:cubicBezTo>
                          <a:pt x="26613" y="202811"/>
                          <a:pt x="38009" y="181885"/>
                          <a:pt x="51239" y="162301"/>
                        </a:cubicBezTo>
                        <a:lnTo>
                          <a:pt x="68547" y="141324"/>
                        </a:lnTo>
                        <a:lnTo>
                          <a:pt x="219923" y="163268"/>
                        </a:lnTo>
                        <a:lnTo>
                          <a:pt x="287394" y="696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4" name="Oval 73"/>
                  <p:cNvSpPr/>
                  <p:nvPr/>
                </p:nvSpPr>
                <p:spPr>
                  <a:xfrm>
                    <a:off x="8253020" y="5080725"/>
                    <a:ext cx="332887" cy="331989"/>
                  </a:xfrm>
                  <a:prstGeom prst="ellipse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cxnSp>
            <p:nvCxnSpPr>
              <p:cNvPr id="77" name="Straight Connector 76"/>
              <p:cNvCxnSpPr/>
              <p:nvPr/>
            </p:nvCxnSpPr>
            <p:spPr>
              <a:xfrm flipV="1">
                <a:off x="1048164" y="3920243"/>
                <a:ext cx="9564029" cy="1781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2606" y="3126307"/>
                <a:ext cx="721070" cy="791478"/>
              </a:xfrm>
              <a:prstGeom prst="rect">
                <a:avLst/>
              </a:prstGeom>
            </p:spPr>
          </p:pic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80880" y="4499577"/>
                <a:ext cx="423132" cy="464448"/>
              </a:xfrm>
              <a:prstGeom prst="rect">
                <a:avLst/>
              </a:prstGeom>
            </p:spPr>
          </p:pic>
          <p:cxnSp>
            <p:nvCxnSpPr>
              <p:cNvPr id="64" name="Straight Connector 63"/>
              <p:cNvCxnSpPr/>
              <p:nvPr/>
            </p:nvCxnSpPr>
            <p:spPr>
              <a:xfrm flipV="1">
                <a:off x="3422660" y="4420176"/>
                <a:ext cx="2427059" cy="137632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/>
              <p:cNvSpPr/>
              <p:nvPr/>
            </p:nvSpPr>
            <p:spPr>
              <a:xfrm>
                <a:off x="3635447" y="5670514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3982545" y="5484129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4328403" y="5310845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4624422" y="5143561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4934088" y="4961795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5243754" y="4775789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5539773" y="4595476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 flipV="1">
                <a:off x="2967520" y="4459001"/>
                <a:ext cx="1968011" cy="11160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Oval 81"/>
              <p:cNvSpPr/>
              <p:nvPr/>
            </p:nvSpPr>
            <p:spPr>
              <a:xfrm>
                <a:off x="3056163" y="5298324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3349394" y="5108339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659060" y="4926573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3952630" y="4761363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4232991" y="4606166"/>
                <a:ext cx="173110" cy="18176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9" name="Picture 8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57748" y="4795657"/>
                <a:ext cx="423132" cy="464448"/>
              </a:xfrm>
              <a:prstGeom prst="rect">
                <a:avLst/>
              </a:prstGeom>
            </p:spPr>
          </p:pic>
          <p:pic>
            <p:nvPicPr>
              <p:cNvPr id="90" name="Picture 8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81801" y="5079397"/>
                <a:ext cx="423132" cy="464448"/>
              </a:xfrm>
              <a:prstGeom prst="rect">
                <a:avLst/>
              </a:prstGeom>
            </p:spPr>
          </p:pic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5767" y="2902770"/>
                <a:ext cx="1566651" cy="2180625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0" t="11154" r="12653" b="11439"/>
              <a:stretch/>
            </p:blipFill>
            <p:spPr>
              <a:xfrm>
                <a:off x="7998273" y="3287418"/>
                <a:ext cx="842606" cy="584389"/>
              </a:xfrm>
              <a:prstGeom prst="rect">
                <a:avLst/>
              </a:prstGeom>
            </p:spPr>
          </p:pic>
          <p:pic>
            <p:nvPicPr>
              <p:cNvPr id="93" name="Picture 92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40" t="11154" r="12653" b="11439"/>
              <a:stretch/>
            </p:blipFill>
            <p:spPr>
              <a:xfrm>
                <a:off x="9229451" y="3287418"/>
                <a:ext cx="907577" cy="629449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302372">
                <a:off x="10268850" y="3196802"/>
                <a:ext cx="1504950" cy="1962150"/>
              </a:xfrm>
              <a:prstGeom prst="rect">
                <a:avLst/>
              </a:prstGeom>
            </p:spPr>
          </p:pic>
          <p:pic>
            <p:nvPicPr>
              <p:cNvPr id="94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 flipH="1">
                <a:off x="11483753" y="2782474"/>
                <a:ext cx="1187887" cy="240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6" name="TextBox 95"/>
              <p:cNvSpPr txBox="1"/>
              <p:nvPr/>
            </p:nvSpPr>
            <p:spPr>
              <a:xfrm>
                <a:off x="1162074" y="1301323"/>
                <a:ext cx="16349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Mono boxes are packed in Carton box</a:t>
                </a:r>
                <a:endParaRPr lang="en-US" dirty="0"/>
              </a:p>
            </p:txBody>
          </p:sp>
          <p:cxnSp>
            <p:nvCxnSpPr>
              <p:cNvPr id="97" name="Straight Arrow Connector 96"/>
              <p:cNvCxnSpPr/>
              <p:nvPr/>
            </p:nvCxnSpPr>
            <p:spPr>
              <a:xfrm>
                <a:off x="1795952" y="2224653"/>
                <a:ext cx="0" cy="83329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TextBox 97"/>
              <p:cNvSpPr txBox="1"/>
              <p:nvPr/>
            </p:nvSpPr>
            <p:spPr>
              <a:xfrm>
                <a:off x="3079702" y="1509274"/>
                <a:ext cx="19773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Capturing and validating </a:t>
                </a:r>
                <a:r>
                  <a:rPr lang="en-US" dirty="0"/>
                  <a:t>weight </a:t>
                </a:r>
                <a:r>
                  <a:rPr lang="en-US" dirty="0" smtClean="0"/>
                  <a:t>of Carton </a:t>
                </a:r>
                <a:r>
                  <a:rPr lang="en-US" dirty="0"/>
                  <a:t>box</a:t>
                </a:r>
              </a:p>
              <a:p>
                <a:endParaRPr lang="en-US" dirty="0"/>
              </a:p>
            </p:txBody>
          </p:sp>
          <p:cxnSp>
            <p:nvCxnSpPr>
              <p:cNvPr id="99" name="Straight Arrow Connector 98"/>
              <p:cNvCxnSpPr/>
              <p:nvPr/>
            </p:nvCxnSpPr>
            <p:spPr>
              <a:xfrm>
                <a:off x="3494181" y="2434107"/>
                <a:ext cx="0" cy="163644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/>
              <p:cNvCxnSpPr/>
              <p:nvPr/>
            </p:nvCxnSpPr>
            <p:spPr>
              <a:xfrm flipH="1" flipV="1">
                <a:off x="4610445" y="4955710"/>
                <a:ext cx="604635" cy="50341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TextBox 103"/>
              <p:cNvSpPr txBox="1"/>
              <p:nvPr/>
            </p:nvSpPr>
            <p:spPr>
              <a:xfrm>
                <a:off x="5163811" y="5320816"/>
                <a:ext cx="262001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Rejected boxes,</a:t>
                </a:r>
                <a:br>
                  <a:rPr lang="en-US" dirty="0" smtClean="0"/>
                </a:br>
                <a:r>
                  <a:rPr lang="en-US" dirty="0" smtClean="0"/>
                  <a:t>Carton weight less than tolerance</a:t>
                </a:r>
                <a:br>
                  <a:rPr lang="en-US" dirty="0" smtClean="0"/>
                </a:br>
                <a:r>
                  <a:rPr lang="en-US" i="1" dirty="0" smtClean="0">
                    <a:solidFill>
                      <a:srgbClr val="FF0000"/>
                    </a:solidFill>
                  </a:rPr>
                  <a:t>*Item manually rechecked and repacked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6290049" y="1472591"/>
                <a:ext cx="183576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Shipper label Pasting machine on Carton boxes</a:t>
                </a:r>
                <a:endParaRPr lang="en-US" dirty="0"/>
              </a:p>
            </p:txBody>
          </p:sp>
          <p:cxnSp>
            <p:nvCxnSpPr>
              <p:cNvPr id="106" name="Straight Arrow Connector 105"/>
              <p:cNvCxnSpPr/>
              <p:nvPr/>
            </p:nvCxnSpPr>
            <p:spPr>
              <a:xfrm>
                <a:off x="6730952" y="2433150"/>
                <a:ext cx="1" cy="78522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/>
              <p:nvPr/>
            </p:nvCxnSpPr>
            <p:spPr>
              <a:xfrm flipV="1">
                <a:off x="3302957" y="3948047"/>
                <a:ext cx="368107" cy="36810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 flipV="1">
                <a:off x="3544640" y="3973420"/>
                <a:ext cx="342734" cy="34273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 flipV="1">
                <a:off x="3763221" y="3948046"/>
                <a:ext cx="391407" cy="391407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V="1">
                <a:off x="3992314" y="3957778"/>
                <a:ext cx="394265" cy="39426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>
              <a:xfrm flipV="1">
                <a:off x="4215250" y="3964008"/>
                <a:ext cx="389704" cy="38970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V="1">
                <a:off x="4454359" y="3943313"/>
                <a:ext cx="403534" cy="40353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 flipV="1">
                <a:off x="4626044" y="4072964"/>
                <a:ext cx="340126" cy="309205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 flipV="1">
                <a:off x="3204164" y="3959108"/>
                <a:ext cx="181750" cy="18175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7992876" y="1697467"/>
                <a:ext cx="193033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Carton boxes with </a:t>
                </a:r>
                <a:br>
                  <a:rPr lang="en-US" dirty="0" smtClean="0"/>
                </a:br>
                <a:r>
                  <a:rPr lang="en-US" dirty="0" smtClean="0"/>
                  <a:t>shipper address</a:t>
                </a:r>
                <a:endParaRPr lang="en-US" dirty="0"/>
              </a:p>
            </p:txBody>
          </p:sp>
          <p:cxnSp>
            <p:nvCxnSpPr>
              <p:cNvPr id="126" name="Straight Arrow Connector 125"/>
              <p:cNvCxnSpPr/>
              <p:nvPr/>
            </p:nvCxnSpPr>
            <p:spPr>
              <a:xfrm>
                <a:off x="8442697" y="2330933"/>
                <a:ext cx="0" cy="975449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/>
              <p:cNvCxnSpPr/>
              <p:nvPr/>
            </p:nvCxnSpPr>
            <p:spPr>
              <a:xfrm flipH="1">
                <a:off x="9904081" y="2330933"/>
                <a:ext cx="401062" cy="104766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/>
              <p:cNvSpPr txBox="1"/>
              <p:nvPr/>
            </p:nvSpPr>
            <p:spPr>
              <a:xfrm>
                <a:off x="9923901" y="1474120"/>
                <a:ext cx="19044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Carton ready for QC testing and for dispatch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139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DD6195E-CA80-E222-ACAD-C71E92262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05" t="6099" r="85844" b="65060"/>
          <a:stretch/>
        </p:blipFill>
        <p:spPr>
          <a:xfrm>
            <a:off x="2636367" y="609599"/>
            <a:ext cx="1323068" cy="1741715"/>
          </a:xfrm>
          <a:prstGeom prst="rect">
            <a:avLst/>
          </a:prstGeom>
        </p:spPr>
      </p:pic>
      <p:pic>
        <p:nvPicPr>
          <p:cNvPr id="1026" name="Picture 2" descr="https://o.remove.bg/downloads/86b6238f-c794-46a6-ada4-f6431caacad8/DALL_E_2023-05-18_16.28.41_-_a_factory_person_carrying_bulbs_in_trolley_animated-removebg-preview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1"/>
          <a:stretch/>
        </p:blipFill>
        <p:spPr bwMode="auto">
          <a:xfrm>
            <a:off x="4542776" y="609599"/>
            <a:ext cx="2651760" cy="214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DD6195E-CA80-E222-ACAD-C71E92262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6" t="33377" r="84385" b="55567"/>
          <a:stretch/>
        </p:blipFill>
        <p:spPr>
          <a:xfrm rot="16200000">
            <a:off x="3734060" y="1146627"/>
            <a:ext cx="609601" cy="6676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37453" y="2426656"/>
            <a:ext cx="2457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Worker carrying Item in trolley to the Conveyor Line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45585" y="2487483"/>
            <a:ext cx="2739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Serial Barcode Generation PC module</a:t>
            </a:r>
            <a:endParaRPr lang="en-US" dirty="0"/>
          </a:p>
        </p:txBody>
      </p:sp>
      <p:pic>
        <p:nvPicPr>
          <p:cNvPr id="15" name="Picture 2" descr="https://o.remove.bg/downloads/86b6238f-c794-46a6-ada4-f6431caacad8/DALL_E_2023-05-18_16.28.41_-_a_factory_person_carrying_bulbs_in_trolley_animated-removebg-preview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1" r="60146"/>
          <a:stretch/>
        </p:blipFill>
        <p:spPr bwMode="auto">
          <a:xfrm>
            <a:off x="1758587" y="793372"/>
            <a:ext cx="856673" cy="173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69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-956780" y="411034"/>
            <a:ext cx="13345705" cy="6415705"/>
            <a:chOff x="-956780" y="411034"/>
            <a:chExt cx="13345705" cy="6415705"/>
          </a:xfrm>
        </p:grpSpPr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05" t="6099" r="85844" b="66935"/>
            <a:stretch/>
          </p:blipFill>
          <p:spPr>
            <a:xfrm>
              <a:off x="2586124" y="4630446"/>
              <a:ext cx="902746" cy="111112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956780" y="3626862"/>
              <a:ext cx="1634069" cy="1244291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407973" y="3342929"/>
              <a:ext cx="1980952" cy="1876190"/>
            </a:xfrm>
            <a:prstGeom prst="rect">
              <a:avLst/>
            </a:prstGeom>
          </p:spPr>
        </p:pic>
        <p:pic>
          <p:nvPicPr>
            <p:cNvPr id="168" name="Picture 16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11398449" y="4142501"/>
              <a:ext cx="387470" cy="312476"/>
            </a:xfrm>
            <a:prstGeom prst="rect">
              <a:avLst/>
            </a:prstGeom>
          </p:spPr>
        </p:pic>
        <p:sp>
          <p:nvSpPr>
            <p:cNvPr id="57" name="Rounded Rectangle 56"/>
            <p:cNvSpPr/>
            <p:nvPr/>
          </p:nvSpPr>
          <p:spPr>
            <a:xfrm>
              <a:off x="3831196" y="4371138"/>
              <a:ext cx="2334057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522123" y="3298023"/>
              <a:ext cx="8130144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1523124" y="4009558"/>
              <a:ext cx="812914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2067120" y="1548976"/>
              <a:ext cx="1456102" cy="2568986"/>
              <a:chOff x="2191555" y="1451582"/>
              <a:chExt cx="985786" cy="1591590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80" r="34380"/>
              <a:stretch/>
            </p:blipFill>
            <p:spPr>
              <a:xfrm flipH="1">
                <a:off x="2191555" y="1451582"/>
                <a:ext cx="891185" cy="159159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40" t="15775" r="5180" b="15118"/>
              <a:stretch/>
            </p:blipFill>
            <p:spPr>
              <a:xfrm rot="16200000" flipV="1">
                <a:off x="2720102" y="2234780"/>
                <a:ext cx="650305" cy="264173"/>
              </a:xfrm>
              <a:prstGeom prst="rect">
                <a:avLst/>
              </a:prstGeom>
            </p:spPr>
          </p:pic>
        </p:grpSp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5400000">
              <a:off x="4008701" y="3452162"/>
              <a:ext cx="347731" cy="449152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5400000">
              <a:off x="3169424" y="3524213"/>
              <a:ext cx="347731" cy="449152"/>
            </a:xfrm>
            <a:prstGeom prst="rect">
              <a:avLst/>
            </a:prstGeom>
          </p:spPr>
        </p:pic>
        <p:sp>
          <p:nvSpPr>
            <p:cNvPr id="51" name="Rectangle 50"/>
            <p:cNvSpPr/>
            <p:nvPr/>
          </p:nvSpPr>
          <p:spPr>
            <a:xfrm flipH="1">
              <a:off x="5174135" y="2127687"/>
              <a:ext cx="141896" cy="18715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4222036" y="2117321"/>
              <a:ext cx="1148029" cy="16129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00" t="12076" r="18184" b="19732"/>
            <a:stretch/>
          </p:blipFill>
          <p:spPr>
            <a:xfrm>
              <a:off x="4508537" y="2056951"/>
              <a:ext cx="624044" cy="561012"/>
            </a:xfrm>
            <a:prstGeom prst="rect">
              <a:avLst/>
            </a:prstGeom>
          </p:spPr>
        </p:pic>
        <p:sp>
          <p:nvSpPr>
            <p:cNvPr id="54" name="Rounded Rectangle 53"/>
            <p:cNvSpPr/>
            <p:nvPr/>
          </p:nvSpPr>
          <p:spPr>
            <a:xfrm rot="16200000">
              <a:off x="4090211" y="2275184"/>
              <a:ext cx="418864" cy="15521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lowchart: Merge 49">
              <a:extLst>
                <a:ext uri="{FF2B5EF4-FFF2-40B4-BE49-F238E27FC236}">
                  <a16:creationId xmlns:a16="http://schemas.microsoft.com/office/drawing/2014/main" xmlns="" id="{64134540-0620-34FF-9D58-4C50DA4C550F}"/>
                </a:ext>
              </a:extLst>
            </p:cNvPr>
            <p:cNvSpPr/>
            <p:nvPr/>
          </p:nvSpPr>
          <p:spPr>
            <a:xfrm rot="1963035" flipV="1">
              <a:off x="4412843" y="2397182"/>
              <a:ext cx="278706" cy="1128434"/>
            </a:xfrm>
            <a:prstGeom prst="flowChartMerg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9" name="Straight Connector 58"/>
            <p:cNvCxnSpPr/>
            <p:nvPr/>
          </p:nvCxnSpPr>
          <p:spPr>
            <a:xfrm flipV="1">
              <a:off x="4033918" y="4550491"/>
              <a:ext cx="1422702" cy="8206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4377250" y="4493592"/>
              <a:ext cx="1908446" cy="1082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/>
            <p:nvPr/>
          </p:nvSpPr>
          <p:spPr>
            <a:xfrm>
              <a:off x="4627351" y="5397023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4913329" y="5252832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5403308" y="5003350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746445" y="4752577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671970" y="4039377"/>
              <a:ext cx="2609499" cy="422027"/>
              <a:chOff x="1414643" y="3456840"/>
              <a:chExt cx="2609499" cy="422027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80" name="Freeform 79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2" name="Group 81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83" name="Freeform 8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86" name="Freeform 85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3635668" y="3461940"/>
                <a:ext cx="388474" cy="401147"/>
                <a:chOff x="8072366" y="4893264"/>
                <a:chExt cx="712983" cy="736242"/>
              </a:xfrm>
            </p:grpSpPr>
            <p:sp>
              <p:nvSpPr>
                <p:cNvPr id="89" name="Freeform 88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6" name="Group 105"/>
            <p:cNvGrpSpPr/>
            <p:nvPr/>
          </p:nvGrpSpPr>
          <p:grpSpPr>
            <a:xfrm>
              <a:off x="6119105" y="4035315"/>
              <a:ext cx="1875370" cy="422027"/>
              <a:chOff x="1414643" y="3456840"/>
              <a:chExt cx="1875370" cy="422027"/>
            </a:xfrm>
          </p:grpSpPr>
          <p:grpSp>
            <p:nvGrpSpPr>
              <p:cNvPr id="107" name="Group 106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17" name="Freeform 116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Oval 117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8" name="Group 107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15" name="Freeform 114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Oval 115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9" name="Group 108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113" name="Freeform 11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Oval 11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2" name="Group 131"/>
            <p:cNvGrpSpPr/>
            <p:nvPr/>
          </p:nvGrpSpPr>
          <p:grpSpPr>
            <a:xfrm>
              <a:off x="4588191" y="4048022"/>
              <a:ext cx="1105160" cy="408936"/>
              <a:chOff x="1414643" y="3469931"/>
              <a:chExt cx="1105160" cy="408936"/>
            </a:xfrm>
          </p:grpSpPr>
          <p:grpSp>
            <p:nvGrpSpPr>
              <p:cNvPr id="133" name="Group 132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43" name="Freeform 14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Oval 14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41" name="Freeform 140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Oval 141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50" name="Oval 149"/>
            <p:cNvSpPr/>
            <p:nvPr/>
          </p:nvSpPr>
          <p:spPr>
            <a:xfrm>
              <a:off x="4466372" y="4805305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/>
            <p:cNvSpPr/>
            <p:nvPr/>
          </p:nvSpPr>
          <p:spPr>
            <a:xfrm>
              <a:off x="4832300" y="4623539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2" name="Picture 151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14670926">
              <a:off x="5388574" y="4452194"/>
              <a:ext cx="347731" cy="449152"/>
            </a:xfrm>
            <a:prstGeom prst="rect">
              <a:avLst/>
            </a:prstGeom>
          </p:spPr>
        </p:pic>
        <p:pic>
          <p:nvPicPr>
            <p:cNvPr id="154" name="Picture 153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14670926">
              <a:off x="4885920" y="4773349"/>
              <a:ext cx="347731" cy="449152"/>
            </a:xfrm>
            <a:prstGeom prst="rect">
              <a:avLst/>
            </a:prstGeom>
          </p:spPr>
        </p:pic>
        <p:sp>
          <p:nvSpPr>
            <p:cNvPr id="158" name="Rectangle 157"/>
            <p:cNvSpPr/>
            <p:nvPr/>
          </p:nvSpPr>
          <p:spPr>
            <a:xfrm flipH="1">
              <a:off x="5814363" y="2134883"/>
              <a:ext cx="236692" cy="112616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ounded Rectangle 158"/>
            <p:cNvSpPr/>
            <p:nvPr/>
          </p:nvSpPr>
          <p:spPr>
            <a:xfrm>
              <a:off x="5814362" y="2136886"/>
              <a:ext cx="1734451" cy="17896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3" name="Picture 162"/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023" t="13997" r="30308" b="39524"/>
            <a:stretch/>
          </p:blipFill>
          <p:spPr>
            <a:xfrm>
              <a:off x="5638434" y="1304462"/>
              <a:ext cx="1988614" cy="1017431"/>
            </a:xfrm>
            <a:prstGeom prst="rect">
              <a:avLst/>
            </a:prstGeom>
          </p:spPr>
        </p:pic>
        <p:pic>
          <p:nvPicPr>
            <p:cNvPr id="164" name="Picture 163"/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32" t="18664" r="15720" b="47886"/>
            <a:stretch/>
          </p:blipFill>
          <p:spPr>
            <a:xfrm>
              <a:off x="7012806" y="2165179"/>
              <a:ext cx="721217" cy="1223492"/>
            </a:xfrm>
            <a:prstGeom prst="rect">
              <a:avLst/>
            </a:prstGeom>
          </p:spPr>
        </p:pic>
        <p:pic>
          <p:nvPicPr>
            <p:cNvPr id="165" name="Picture 164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5400000">
              <a:off x="5498396" y="3486548"/>
              <a:ext cx="347731" cy="449152"/>
            </a:xfrm>
            <a:prstGeom prst="rect">
              <a:avLst/>
            </a:prstGeom>
          </p:spPr>
        </p:pic>
        <p:pic>
          <p:nvPicPr>
            <p:cNvPr id="166" name="Picture 165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5400000">
              <a:off x="6268971" y="3500456"/>
              <a:ext cx="347731" cy="449152"/>
            </a:xfrm>
            <a:prstGeom prst="rect">
              <a:avLst/>
            </a:prstGeom>
          </p:spPr>
        </p:pic>
        <p:sp>
          <p:nvSpPr>
            <p:cNvPr id="169" name="Curved Left Arrow 168"/>
            <p:cNvSpPr/>
            <p:nvPr/>
          </p:nvSpPr>
          <p:spPr>
            <a:xfrm rot="16200000">
              <a:off x="10545058" y="3008857"/>
              <a:ext cx="613097" cy="993881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73" name="Picture 172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95" t="4840" r="18008" b="14367"/>
            <a:stretch/>
          </p:blipFill>
          <p:spPr>
            <a:xfrm>
              <a:off x="7024405" y="3117665"/>
              <a:ext cx="577964" cy="841195"/>
            </a:xfrm>
            <a:prstGeom prst="rect">
              <a:avLst/>
            </a:prstGeom>
          </p:spPr>
        </p:pic>
        <p:pic>
          <p:nvPicPr>
            <p:cNvPr id="205" name="Picture 20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7917269" y="3410695"/>
              <a:ext cx="579707" cy="467506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2060444" y="1002716"/>
              <a:ext cx="174588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Laser Marking </a:t>
              </a:r>
            </a:p>
            <a:p>
              <a:r>
                <a:rPr lang="en-US" dirty="0" smtClean="0"/>
                <a:t>Machine for QR Code Marking</a:t>
              </a:r>
              <a:endParaRPr lang="en-US" dirty="0"/>
            </a:p>
          </p:txBody>
        </p:sp>
        <p:grpSp>
          <p:nvGrpSpPr>
            <p:cNvPr id="215" name="Group 214"/>
            <p:cNvGrpSpPr/>
            <p:nvPr/>
          </p:nvGrpSpPr>
          <p:grpSpPr>
            <a:xfrm>
              <a:off x="529668" y="3014132"/>
              <a:ext cx="1301320" cy="2140223"/>
              <a:chOff x="8010974" y="657086"/>
              <a:chExt cx="1301320" cy="2140223"/>
            </a:xfrm>
          </p:grpSpPr>
          <p:pic>
            <p:nvPicPr>
              <p:cNvPr id="216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968" t="47057" r="-745" b="28313"/>
              <a:stretch/>
            </p:blipFill>
            <p:spPr bwMode="auto">
              <a:xfrm>
                <a:off x="9012283" y="985883"/>
                <a:ext cx="300011" cy="500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7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8010974" y="657086"/>
                <a:ext cx="1056826" cy="2140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9" name="TextBox 218"/>
            <p:cNvSpPr txBox="1"/>
            <p:nvPr/>
          </p:nvSpPr>
          <p:spPr>
            <a:xfrm>
              <a:off x="4043810" y="1622972"/>
              <a:ext cx="1507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FMS Scanner</a:t>
              </a:r>
              <a:endParaRPr lang="en-US" dirty="0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701617" y="891679"/>
              <a:ext cx="21368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Packed in Mono box</a:t>
              </a:r>
              <a:endParaRPr lang="en-US" dirty="0"/>
            </a:p>
          </p:txBody>
        </p:sp>
        <p:cxnSp>
          <p:nvCxnSpPr>
            <p:cNvPr id="225" name="Straight Arrow Connector 224"/>
            <p:cNvCxnSpPr/>
            <p:nvPr/>
          </p:nvCxnSpPr>
          <p:spPr>
            <a:xfrm flipH="1" flipV="1">
              <a:off x="5217452" y="5107248"/>
              <a:ext cx="498857" cy="5969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229"/>
            <p:cNvSpPr txBox="1"/>
            <p:nvPr/>
          </p:nvSpPr>
          <p:spPr>
            <a:xfrm>
              <a:off x="5546363" y="5618536"/>
              <a:ext cx="1699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Non –barcoded items</a:t>
              </a:r>
              <a:endParaRPr lang="en-US" dirty="0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-804281" y="4780876"/>
              <a:ext cx="24234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Worker keeping </a:t>
              </a:r>
            </a:p>
            <a:p>
              <a:r>
                <a:rPr lang="en-US" dirty="0" smtClean="0"/>
                <a:t>Item from trolley on the Conveyor Line</a:t>
              </a:r>
              <a:endParaRPr lang="en-US" dirty="0"/>
            </a:p>
          </p:txBody>
        </p:sp>
        <p:cxnSp>
          <p:nvCxnSpPr>
            <p:cNvPr id="245" name="Straight Arrow Connector 244"/>
            <p:cNvCxnSpPr/>
            <p:nvPr/>
          </p:nvCxnSpPr>
          <p:spPr>
            <a:xfrm flipV="1">
              <a:off x="10493710" y="4493093"/>
              <a:ext cx="449853" cy="62916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/>
            <p:cNvSpPr txBox="1"/>
            <p:nvPr/>
          </p:nvSpPr>
          <p:spPr>
            <a:xfrm>
              <a:off x="10173411" y="5135724"/>
              <a:ext cx="16999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carrying mono boxes in bins</a:t>
              </a:r>
              <a:endParaRPr lang="en-US" dirty="0"/>
            </a:p>
          </p:txBody>
        </p:sp>
        <p:pic>
          <p:nvPicPr>
            <p:cNvPr id="136" name="Picture 2" descr="https://o.remove.bg/downloads/86b6238f-c794-46a6-ada4-f6431caacad8/DALL_E_2023-05-18_16.28.41_-_a_factory_person_carrying_bulbs_in_trolley_animated-removebg-preview.png"/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91" r="60146"/>
            <a:stretch/>
          </p:blipFill>
          <p:spPr bwMode="auto">
            <a:xfrm flipH="1">
              <a:off x="9298649" y="2732313"/>
              <a:ext cx="1187887" cy="2405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7" name="Group 136"/>
            <p:cNvGrpSpPr/>
            <p:nvPr/>
          </p:nvGrpSpPr>
          <p:grpSpPr>
            <a:xfrm>
              <a:off x="8211812" y="4048624"/>
              <a:ext cx="1105160" cy="408936"/>
              <a:chOff x="1414643" y="3469931"/>
              <a:chExt cx="1105160" cy="408936"/>
            </a:xfrm>
          </p:grpSpPr>
          <p:grpSp>
            <p:nvGrpSpPr>
              <p:cNvPr id="138" name="Group 137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60" name="Freeform 159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Oval 160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9" name="Group 138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53" name="Freeform 15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Oval 156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67" name="Picture 166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8761790" y="3396312"/>
              <a:ext cx="579707" cy="467506"/>
            </a:xfrm>
            <a:prstGeom prst="rect">
              <a:avLst/>
            </a:prstGeom>
          </p:spPr>
        </p:pic>
        <p:pic>
          <p:nvPicPr>
            <p:cNvPr id="170" name="Picture 16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10950737" y="4295789"/>
              <a:ext cx="387470" cy="312476"/>
            </a:xfrm>
            <a:prstGeom prst="rect">
              <a:avLst/>
            </a:prstGeom>
          </p:spPr>
        </p:pic>
        <p:pic>
          <p:nvPicPr>
            <p:cNvPr id="171" name="Picture 170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10904481" y="3898382"/>
              <a:ext cx="387470" cy="312476"/>
            </a:xfrm>
            <a:prstGeom prst="rect">
              <a:avLst/>
            </a:prstGeom>
          </p:spPr>
        </p:pic>
        <p:cxnSp>
          <p:nvCxnSpPr>
            <p:cNvPr id="172" name="Straight Arrow Connector 171"/>
            <p:cNvCxnSpPr/>
            <p:nvPr/>
          </p:nvCxnSpPr>
          <p:spPr>
            <a:xfrm>
              <a:off x="1958129" y="2384283"/>
              <a:ext cx="1" cy="9586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/>
            <p:cNvSpPr txBox="1"/>
            <p:nvPr/>
          </p:nvSpPr>
          <p:spPr>
            <a:xfrm>
              <a:off x="-118900" y="2085982"/>
              <a:ext cx="17380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Conveyor Assembly Line</a:t>
              </a:r>
              <a:endParaRPr lang="en-US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7313387" y="5657188"/>
              <a:ext cx="250531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*If </a:t>
              </a:r>
              <a:r>
                <a:rPr lang="en-US" sz="1400" dirty="0">
                  <a:solidFill>
                    <a:srgbClr val="FF0000"/>
                  </a:solidFill>
                </a:rPr>
                <a:t>the Scanner/Conveyor is not working, use the HHT device for </a:t>
              </a:r>
              <a:r>
                <a:rPr lang="en-US" sz="1400" dirty="0" smtClean="0">
                  <a:solidFill>
                    <a:srgbClr val="FF0000"/>
                  </a:solidFill>
                </a:rPr>
                <a:t>manually scanning </a:t>
              </a:r>
              <a:r>
                <a:rPr lang="en-US" sz="1400" dirty="0">
                  <a:solidFill>
                    <a:srgbClr val="FF0000"/>
                  </a:solidFill>
                </a:rPr>
                <a:t>and printing shipper labels. Schedule these tasks for the end of the day.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507801" y="411034"/>
              <a:ext cx="2622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>
                <a:solidFill>
                  <a:srgbClr val="FF0000"/>
                </a:solidFill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1311808" y="2384283"/>
              <a:ext cx="65267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Picture 109"/>
            <p:cNvPicPr>
              <a:picLocks noChangeAspect="1"/>
            </p:cNvPicPr>
            <p:nvPr/>
          </p:nvPicPr>
          <p:blipFill rotWithShape="1">
            <a:blip r:embed="rId8"/>
            <a:srcRect l="19003" t="13679" r="10310" b="21083"/>
            <a:stretch/>
          </p:blipFill>
          <p:spPr>
            <a:xfrm rot="14670926">
              <a:off x="4428512" y="5032351"/>
              <a:ext cx="347731" cy="449152"/>
            </a:xfrm>
            <a:prstGeom prst="rect">
              <a:avLst/>
            </a:prstGeom>
          </p:spPr>
        </p:pic>
        <p:sp>
          <p:nvSpPr>
            <p:cNvPr id="119" name="Oval 118"/>
            <p:cNvSpPr/>
            <p:nvPr/>
          </p:nvSpPr>
          <p:spPr>
            <a:xfrm>
              <a:off x="4112232" y="5003350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/>
            <p:cNvCxnSpPr/>
            <p:nvPr/>
          </p:nvCxnSpPr>
          <p:spPr>
            <a:xfrm flipV="1">
              <a:off x="3284333" y="3795547"/>
              <a:ext cx="486255" cy="13713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2150171" y="5751353"/>
              <a:ext cx="21048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*Map the Line and Bin barcode Label into the system.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23" name="Curved Left Arrow 122"/>
            <p:cNvSpPr/>
            <p:nvPr/>
          </p:nvSpPr>
          <p:spPr>
            <a:xfrm rot="16200000">
              <a:off x="6802467" y="3191369"/>
              <a:ext cx="430815" cy="698387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Arrow Connector 123"/>
            <p:cNvCxnSpPr/>
            <p:nvPr/>
          </p:nvCxnSpPr>
          <p:spPr>
            <a:xfrm flipH="1" flipV="1">
              <a:off x="7798067" y="3744891"/>
              <a:ext cx="16622" cy="103598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50" r="28851"/>
            <a:stretch/>
          </p:blipFill>
          <p:spPr>
            <a:xfrm>
              <a:off x="7533856" y="4630422"/>
              <a:ext cx="694936" cy="1097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8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473123" y="760236"/>
            <a:ext cx="12830159" cy="5824023"/>
            <a:chOff x="-763409" y="1195665"/>
            <a:chExt cx="12830159" cy="582402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10559922" y="3811836"/>
              <a:ext cx="1506828" cy="1249252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305" t="6099" r="85844" b="66935"/>
            <a:stretch/>
          </p:blipFill>
          <p:spPr>
            <a:xfrm>
              <a:off x="2779495" y="4823395"/>
              <a:ext cx="902746" cy="111112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763409" y="3819811"/>
              <a:ext cx="1634069" cy="1244291"/>
            </a:xfrm>
            <a:prstGeom prst="rect">
              <a:avLst/>
            </a:prstGeom>
          </p:spPr>
        </p:pic>
        <p:sp>
          <p:nvSpPr>
            <p:cNvPr id="57" name="Rounded Rectangle 56"/>
            <p:cNvSpPr/>
            <p:nvPr/>
          </p:nvSpPr>
          <p:spPr>
            <a:xfrm>
              <a:off x="4024567" y="4564087"/>
              <a:ext cx="2334057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715494" y="3490972"/>
              <a:ext cx="8130144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1716495" y="4202507"/>
              <a:ext cx="812914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2260491" y="1741925"/>
              <a:ext cx="1456102" cy="2568986"/>
              <a:chOff x="2191555" y="1451582"/>
              <a:chExt cx="985786" cy="1591590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80" r="34380"/>
              <a:stretch/>
            </p:blipFill>
            <p:spPr>
              <a:xfrm flipH="1">
                <a:off x="2191555" y="1451582"/>
                <a:ext cx="891185" cy="159159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40" t="15775" r="5180" b="15118"/>
              <a:stretch/>
            </p:blipFill>
            <p:spPr>
              <a:xfrm rot="16200000" flipV="1">
                <a:off x="2720102" y="2234780"/>
                <a:ext cx="650305" cy="264173"/>
              </a:xfrm>
              <a:prstGeom prst="rect">
                <a:avLst/>
              </a:prstGeom>
            </p:spPr>
          </p:pic>
        </p:grpSp>
        <p:pic>
          <p:nvPicPr>
            <p:cNvPr id="34" name="Picture 33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5400000">
              <a:off x="4202072" y="3645111"/>
              <a:ext cx="347731" cy="449152"/>
            </a:xfrm>
            <a:prstGeom prst="rect">
              <a:avLst/>
            </a:prstGeom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5400000">
              <a:off x="3362795" y="3717162"/>
              <a:ext cx="347731" cy="449152"/>
            </a:xfrm>
            <a:prstGeom prst="rect">
              <a:avLst/>
            </a:prstGeom>
          </p:spPr>
        </p:pic>
        <p:sp>
          <p:nvSpPr>
            <p:cNvPr id="51" name="Rectangle 50"/>
            <p:cNvSpPr/>
            <p:nvPr/>
          </p:nvSpPr>
          <p:spPr>
            <a:xfrm flipH="1">
              <a:off x="5367506" y="2320636"/>
              <a:ext cx="141896" cy="18715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4415407" y="2310270"/>
              <a:ext cx="1148029" cy="161298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00" t="12076" r="18184" b="19732"/>
            <a:stretch/>
          </p:blipFill>
          <p:spPr>
            <a:xfrm>
              <a:off x="4701908" y="2249900"/>
              <a:ext cx="624044" cy="561012"/>
            </a:xfrm>
            <a:prstGeom prst="rect">
              <a:avLst/>
            </a:prstGeom>
          </p:spPr>
        </p:pic>
        <p:sp>
          <p:nvSpPr>
            <p:cNvPr id="54" name="Rounded Rectangle 53"/>
            <p:cNvSpPr/>
            <p:nvPr/>
          </p:nvSpPr>
          <p:spPr>
            <a:xfrm rot="16200000">
              <a:off x="4283582" y="2468133"/>
              <a:ext cx="418864" cy="15521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lowchart: Merge 49">
              <a:extLst>
                <a:ext uri="{FF2B5EF4-FFF2-40B4-BE49-F238E27FC236}">
                  <a16:creationId xmlns:a16="http://schemas.microsoft.com/office/drawing/2014/main" xmlns="" id="{64134540-0620-34FF-9D58-4C50DA4C550F}"/>
                </a:ext>
              </a:extLst>
            </p:cNvPr>
            <p:cNvSpPr/>
            <p:nvPr/>
          </p:nvSpPr>
          <p:spPr>
            <a:xfrm rot="1963035" flipV="1">
              <a:off x="4606214" y="2590131"/>
              <a:ext cx="278706" cy="1128434"/>
            </a:xfrm>
            <a:prstGeom prst="flowChartMerg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9" name="Straight Connector 58"/>
            <p:cNvCxnSpPr/>
            <p:nvPr/>
          </p:nvCxnSpPr>
          <p:spPr>
            <a:xfrm flipV="1">
              <a:off x="4227289" y="4743440"/>
              <a:ext cx="1422702" cy="8206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flipV="1">
              <a:off x="4570621" y="4686541"/>
              <a:ext cx="1908446" cy="10822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/>
            <p:nvPr/>
          </p:nvSpPr>
          <p:spPr>
            <a:xfrm>
              <a:off x="4820722" y="5589972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5106700" y="5445781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5596679" y="5196299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5939816" y="4945526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1865341" y="4232326"/>
              <a:ext cx="2609499" cy="422027"/>
              <a:chOff x="1414643" y="3456840"/>
              <a:chExt cx="2609499" cy="422027"/>
            </a:xfrm>
          </p:grpSpPr>
          <p:grpSp>
            <p:nvGrpSpPr>
              <p:cNvPr id="79" name="Group 78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80" name="Freeform 79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2" name="Group 81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83" name="Freeform 8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5" name="Group 84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86" name="Freeform 85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Oval 86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3635668" y="3461940"/>
                <a:ext cx="388474" cy="401147"/>
                <a:chOff x="8072366" y="4893264"/>
                <a:chExt cx="712983" cy="736242"/>
              </a:xfrm>
            </p:grpSpPr>
            <p:sp>
              <p:nvSpPr>
                <p:cNvPr id="89" name="Freeform 88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06" name="Group 105"/>
            <p:cNvGrpSpPr/>
            <p:nvPr/>
          </p:nvGrpSpPr>
          <p:grpSpPr>
            <a:xfrm>
              <a:off x="6312476" y="4228264"/>
              <a:ext cx="1875370" cy="422027"/>
              <a:chOff x="1414643" y="3456840"/>
              <a:chExt cx="1875370" cy="422027"/>
            </a:xfrm>
          </p:grpSpPr>
          <p:grpSp>
            <p:nvGrpSpPr>
              <p:cNvPr id="107" name="Group 106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17" name="Freeform 116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Oval 117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8" name="Group 107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15" name="Freeform 114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Oval 115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9" name="Group 108"/>
              <p:cNvGrpSpPr/>
              <p:nvPr/>
            </p:nvGrpSpPr>
            <p:grpSpPr>
              <a:xfrm>
                <a:off x="2901539" y="3456840"/>
                <a:ext cx="388474" cy="401147"/>
                <a:chOff x="8072366" y="4893264"/>
                <a:chExt cx="712983" cy="736242"/>
              </a:xfrm>
            </p:grpSpPr>
            <p:sp>
              <p:nvSpPr>
                <p:cNvPr id="113" name="Freeform 11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Oval 11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2" name="Group 131"/>
            <p:cNvGrpSpPr/>
            <p:nvPr/>
          </p:nvGrpSpPr>
          <p:grpSpPr>
            <a:xfrm>
              <a:off x="4781562" y="4240971"/>
              <a:ext cx="1105160" cy="408936"/>
              <a:chOff x="1414643" y="3469931"/>
              <a:chExt cx="1105160" cy="408936"/>
            </a:xfrm>
          </p:grpSpPr>
          <p:grpSp>
            <p:nvGrpSpPr>
              <p:cNvPr id="133" name="Group 132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43" name="Freeform 14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Oval 143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4" name="Group 133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41" name="Freeform 140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Oval 141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50" name="Oval 149"/>
            <p:cNvSpPr/>
            <p:nvPr/>
          </p:nvSpPr>
          <p:spPr>
            <a:xfrm>
              <a:off x="4659743" y="4998254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/>
            <p:cNvSpPr/>
            <p:nvPr/>
          </p:nvSpPr>
          <p:spPr>
            <a:xfrm>
              <a:off x="5025671" y="4816488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2" name="Picture 151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14670926">
              <a:off x="5581945" y="4645143"/>
              <a:ext cx="347731" cy="449152"/>
            </a:xfrm>
            <a:prstGeom prst="rect">
              <a:avLst/>
            </a:prstGeom>
          </p:spPr>
        </p:pic>
        <p:pic>
          <p:nvPicPr>
            <p:cNvPr id="154" name="Picture 153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14670926">
              <a:off x="5079291" y="4966298"/>
              <a:ext cx="347731" cy="449152"/>
            </a:xfrm>
            <a:prstGeom prst="rect">
              <a:avLst/>
            </a:prstGeom>
          </p:spPr>
        </p:pic>
        <p:pic>
          <p:nvPicPr>
            <p:cNvPr id="165" name="Picture 164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5400000">
              <a:off x="5691767" y="3679497"/>
              <a:ext cx="347731" cy="449152"/>
            </a:xfrm>
            <a:prstGeom prst="rect">
              <a:avLst/>
            </a:prstGeom>
          </p:spPr>
        </p:pic>
        <p:pic>
          <p:nvPicPr>
            <p:cNvPr id="166" name="Picture 165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5400000">
              <a:off x="6462342" y="3693405"/>
              <a:ext cx="347731" cy="449152"/>
            </a:xfrm>
            <a:prstGeom prst="rect">
              <a:avLst/>
            </a:prstGeom>
          </p:spPr>
        </p:pic>
        <p:sp>
          <p:nvSpPr>
            <p:cNvPr id="169" name="Curved Left Arrow 168"/>
            <p:cNvSpPr/>
            <p:nvPr/>
          </p:nvSpPr>
          <p:spPr>
            <a:xfrm rot="16200000">
              <a:off x="10738429" y="3201806"/>
              <a:ext cx="613097" cy="993881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73" name="Picture 172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95" t="4840" r="18008" b="14367"/>
            <a:stretch/>
          </p:blipFill>
          <p:spPr>
            <a:xfrm>
              <a:off x="7217776" y="3310614"/>
              <a:ext cx="577964" cy="841195"/>
            </a:xfrm>
            <a:prstGeom prst="rect">
              <a:avLst/>
            </a:prstGeom>
          </p:spPr>
        </p:pic>
        <p:pic>
          <p:nvPicPr>
            <p:cNvPr id="205" name="Picture 204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8110640" y="3603644"/>
              <a:ext cx="579707" cy="467506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2253815" y="1195665"/>
              <a:ext cx="174588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Laser Marking </a:t>
              </a:r>
            </a:p>
            <a:p>
              <a:r>
                <a:rPr lang="en-US" dirty="0" smtClean="0"/>
                <a:t>Machine for QR Code Marking</a:t>
              </a:r>
              <a:endParaRPr lang="en-US" dirty="0"/>
            </a:p>
          </p:txBody>
        </p:sp>
        <p:grpSp>
          <p:nvGrpSpPr>
            <p:cNvPr id="215" name="Group 214"/>
            <p:cNvGrpSpPr/>
            <p:nvPr/>
          </p:nvGrpSpPr>
          <p:grpSpPr>
            <a:xfrm>
              <a:off x="723039" y="3207081"/>
              <a:ext cx="1301320" cy="2140223"/>
              <a:chOff x="8010974" y="657086"/>
              <a:chExt cx="1301320" cy="2140223"/>
            </a:xfrm>
          </p:grpSpPr>
          <p:pic>
            <p:nvPicPr>
              <p:cNvPr id="216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968" t="47057" r="-745" b="28313"/>
              <a:stretch/>
            </p:blipFill>
            <p:spPr bwMode="auto">
              <a:xfrm>
                <a:off x="9012283" y="985883"/>
                <a:ext cx="300011" cy="500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7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8010974" y="657086"/>
                <a:ext cx="1056826" cy="2140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9" name="TextBox 218"/>
            <p:cNvSpPr txBox="1"/>
            <p:nvPr/>
          </p:nvSpPr>
          <p:spPr>
            <a:xfrm>
              <a:off x="4237181" y="1815921"/>
              <a:ext cx="1507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FMS Scanner</a:t>
              </a:r>
              <a:endParaRPr lang="en-US" dirty="0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960735" y="2126579"/>
              <a:ext cx="23334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Packed in Mono boxes</a:t>
              </a:r>
              <a:endParaRPr lang="en-US" dirty="0"/>
            </a:p>
          </p:txBody>
        </p:sp>
        <p:cxnSp>
          <p:nvCxnSpPr>
            <p:cNvPr id="225" name="Straight Arrow Connector 224"/>
            <p:cNvCxnSpPr/>
            <p:nvPr/>
          </p:nvCxnSpPr>
          <p:spPr>
            <a:xfrm flipH="1" flipV="1">
              <a:off x="5410823" y="5300197"/>
              <a:ext cx="498857" cy="5969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229"/>
            <p:cNvSpPr txBox="1"/>
            <p:nvPr/>
          </p:nvSpPr>
          <p:spPr>
            <a:xfrm>
              <a:off x="5739734" y="5811485"/>
              <a:ext cx="1699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Non –barcoded items</a:t>
              </a:r>
              <a:endParaRPr lang="en-US" dirty="0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-610910" y="4973825"/>
              <a:ext cx="24234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Worker keeping </a:t>
              </a:r>
            </a:p>
            <a:p>
              <a:r>
                <a:rPr lang="en-US" dirty="0" smtClean="0"/>
                <a:t>Item from trolley on the Conveyor Line</a:t>
              </a:r>
              <a:endParaRPr lang="en-US" dirty="0"/>
            </a:p>
          </p:txBody>
        </p:sp>
        <p:cxnSp>
          <p:nvCxnSpPr>
            <p:cNvPr id="245" name="Straight Arrow Connector 244"/>
            <p:cNvCxnSpPr/>
            <p:nvPr/>
          </p:nvCxnSpPr>
          <p:spPr>
            <a:xfrm flipV="1">
              <a:off x="10687081" y="4686042"/>
              <a:ext cx="449853" cy="62916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/>
            <p:cNvSpPr txBox="1"/>
            <p:nvPr/>
          </p:nvSpPr>
          <p:spPr>
            <a:xfrm>
              <a:off x="10366782" y="5328673"/>
              <a:ext cx="16999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User carrying mono boxes in bins</a:t>
              </a:r>
              <a:endParaRPr lang="en-US" dirty="0"/>
            </a:p>
          </p:txBody>
        </p:sp>
        <p:pic>
          <p:nvPicPr>
            <p:cNvPr id="136" name="Picture 2" descr="https://o.remove.bg/downloads/86b6238f-c794-46a6-ada4-f6431caacad8/DALL_E_2023-05-18_16.28.41_-_a_factory_person_carrying_bulbs_in_trolley_animated-removebg-preview.png"/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91" r="60146"/>
            <a:stretch/>
          </p:blipFill>
          <p:spPr bwMode="auto">
            <a:xfrm flipH="1">
              <a:off x="9492020" y="2925262"/>
              <a:ext cx="1187887" cy="2405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7" name="Group 136"/>
            <p:cNvGrpSpPr/>
            <p:nvPr/>
          </p:nvGrpSpPr>
          <p:grpSpPr>
            <a:xfrm>
              <a:off x="8405183" y="4241573"/>
              <a:ext cx="1105160" cy="408936"/>
              <a:chOff x="1414643" y="3469931"/>
              <a:chExt cx="1105160" cy="408936"/>
            </a:xfrm>
          </p:grpSpPr>
          <p:grpSp>
            <p:nvGrpSpPr>
              <p:cNvPr id="138" name="Group 137"/>
              <p:cNvGrpSpPr/>
              <p:nvPr/>
            </p:nvGrpSpPr>
            <p:grpSpPr>
              <a:xfrm>
                <a:off x="1414643" y="3477720"/>
                <a:ext cx="388474" cy="401147"/>
                <a:chOff x="8072366" y="4893264"/>
                <a:chExt cx="712983" cy="736242"/>
              </a:xfrm>
            </p:grpSpPr>
            <p:sp>
              <p:nvSpPr>
                <p:cNvPr id="160" name="Freeform 159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Oval 160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9" name="Group 138"/>
              <p:cNvGrpSpPr/>
              <p:nvPr/>
            </p:nvGrpSpPr>
            <p:grpSpPr>
              <a:xfrm>
                <a:off x="2131329" y="3469931"/>
                <a:ext cx="388474" cy="401147"/>
                <a:chOff x="8072366" y="4893264"/>
                <a:chExt cx="712983" cy="736242"/>
              </a:xfrm>
            </p:grpSpPr>
            <p:sp>
              <p:nvSpPr>
                <p:cNvPr id="153" name="Freeform 152"/>
                <p:cNvSpPr/>
                <p:nvPr/>
              </p:nvSpPr>
              <p:spPr>
                <a:xfrm>
                  <a:off x="8072366" y="4893264"/>
                  <a:ext cx="712983" cy="736242"/>
                </a:xfrm>
                <a:custGeom>
                  <a:avLst/>
                  <a:gdLst>
                    <a:gd name="connsiteX0" fmla="*/ 356491 w 712983"/>
                    <a:gd name="connsiteY0" fmla="*/ 0 h 736242"/>
                    <a:gd name="connsiteX1" fmla="*/ 425590 w 712983"/>
                    <a:gd name="connsiteY1" fmla="*/ 6966 h 736242"/>
                    <a:gd name="connsiteX2" fmla="*/ 493060 w 712983"/>
                    <a:gd name="connsiteY2" fmla="*/ 163268 h 736242"/>
                    <a:gd name="connsiteX3" fmla="*/ 644436 w 712983"/>
                    <a:gd name="connsiteY3" fmla="*/ 141325 h 736242"/>
                    <a:gd name="connsiteX4" fmla="*/ 661743 w 712983"/>
                    <a:gd name="connsiteY4" fmla="*/ 162301 h 736242"/>
                    <a:gd name="connsiteX5" fmla="*/ 695683 w 712983"/>
                    <a:gd name="connsiteY5" fmla="*/ 224832 h 736242"/>
                    <a:gd name="connsiteX6" fmla="*/ 712983 w 712983"/>
                    <a:gd name="connsiteY6" fmla="*/ 280561 h 736242"/>
                    <a:gd name="connsiteX7" fmla="*/ 629629 w 712983"/>
                    <a:gd name="connsiteY7" fmla="*/ 368122 h 736242"/>
                    <a:gd name="connsiteX8" fmla="*/ 712982 w 712983"/>
                    <a:gd name="connsiteY8" fmla="*/ 455683 h 736242"/>
                    <a:gd name="connsiteX9" fmla="*/ 695683 w 712983"/>
                    <a:gd name="connsiteY9" fmla="*/ 511411 h 736242"/>
                    <a:gd name="connsiteX10" fmla="*/ 661743 w 712983"/>
                    <a:gd name="connsiteY10" fmla="*/ 573941 h 736242"/>
                    <a:gd name="connsiteX11" fmla="*/ 644435 w 712983"/>
                    <a:gd name="connsiteY11" fmla="*/ 594919 h 736242"/>
                    <a:gd name="connsiteX12" fmla="*/ 493060 w 712983"/>
                    <a:gd name="connsiteY12" fmla="*/ 572975 h 736242"/>
                    <a:gd name="connsiteX13" fmla="*/ 425590 w 712983"/>
                    <a:gd name="connsiteY13" fmla="*/ 729276 h 736242"/>
                    <a:gd name="connsiteX14" fmla="*/ 356491 w 712983"/>
                    <a:gd name="connsiteY14" fmla="*/ 736242 h 736242"/>
                    <a:gd name="connsiteX15" fmla="*/ 287394 w 712983"/>
                    <a:gd name="connsiteY15" fmla="*/ 729277 h 736242"/>
                    <a:gd name="connsiteX16" fmla="*/ 219923 w 712983"/>
                    <a:gd name="connsiteY16" fmla="*/ 572975 h 736242"/>
                    <a:gd name="connsiteX17" fmla="*/ 68548 w 712983"/>
                    <a:gd name="connsiteY17" fmla="*/ 594919 h 736242"/>
                    <a:gd name="connsiteX18" fmla="*/ 51239 w 712983"/>
                    <a:gd name="connsiteY18" fmla="*/ 573941 h 736242"/>
                    <a:gd name="connsiteX19" fmla="*/ 17299 w 712983"/>
                    <a:gd name="connsiteY19" fmla="*/ 511411 h 736242"/>
                    <a:gd name="connsiteX20" fmla="*/ 0 w 712983"/>
                    <a:gd name="connsiteY20" fmla="*/ 455684 h 736242"/>
                    <a:gd name="connsiteX21" fmla="*/ 83354 w 712983"/>
                    <a:gd name="connsiteY21" fmla="*/ 368122 h 736242"/>
                    <a:gd name="connsiteX22" fmla="*/ 0 w 712983"/>
                    <a:gd name="connsiteY22" fmla="*/ 280560 h 736242"/>
                    <a:gd name="connsiteX23" fmla="*/ 17299 w 712983"/>
                    <a:gd name="connsiteY23" fmla="*/ 224832 h 736242"/>
                    <a:gd name="connsiteX24" fmla="*/ 51239 w 712983"/>
                    <a:gd name="connsiteY24" fmla="*/ 162301 h 736242"/>
                    <a:gd name="connsiteX25" fmla="*/ 68547 w 712983"/>
                    <a:gd name="connsiteY25" fmla="*/ 141324 h 736242"/>
                    <a:gd name="connsiteX26" fmla="*/ 219923 w 712983"/>
                    <a:gd name="connsiteY26" fmla="*/ 163268 h 736242"/>
                    <a:gd name="connsiteX27" fmla="*/ 287394 w 712983"/>
                    <a:gd name="connsiteY27" fmla="*/ 6966 h 73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2983" h="736242">
                      <a:moveTo>
                        <a:pt x="356491" y="0"/>
                      </a:moveTo>
                      <a:lnTo>
                        <a:pt x="425590" y="6966"/>
                      </a:lnTo>
                      <a:lnTo>
                        <a:pt x="493060" y="163268"/>
                      </a:lnTo>
                      <a:lnTo>
                        <a:pt x="644436" y="141325"/>
                      </a:lnTo>
                      <a:lnTo>
                        <a:pt x="661743" y="162301"/>
                      </a:lnTo>
                      <a:cubicBezTo>
                        <a:pt x="674974" y="181885"/>
                        <a:pt x="686369" y="202811"/>
                        <a:pt x="695683" y="224832"/>
                      </a:cubicBezTo>
                      <a:lnTo>
                        <a:pt x="712983" y="280561"/>
                      </a:lnTo>
                      <a:lnTo>
                        <a:pt x="629629" y="368122"/>
                      </a:lnTo>
                      <a:lnTo>
                        <a:pt x="712982" y="455683"/>
                      </a:lnTo>
                      <a:lnTo>
                        <a:pt x="695683" y="511411"/>
                      </a:lnTo>
                      <a:cubicBezTo>
                        <a:pt x="686369" y="533431"/>
                        <a:pt x="674974" y="554357"/>
                        <a:pt x="661743" y="573941"/>
                      </a:cubicBezTo>
                      <a:lnTo>
                        <a:pt x="644435" y="594919"/>
                      </a:lnTo>
                      <a:lnTo>
                        <a:pt x="493060" y="572975"/>
                      </a:lnTo>
                      <a:lnTo>
                        <a:pt x="425590" y="729276"/>
                      </a:lnTo>
                      <a:lnTo>
                        <a:pt x="356491" y="736242"/>
                      </a:lnTo>
                      <a:lnTo>
                        <a:pt x="287394" y="729277"/>
                      </a:lnTo>
                      <a:lnTo>
                        <a:pt x="219923" y="572975"/>
                      </a:lnTo>
                      <a:lnTo>
                        <a:pt x="68548" y="594919"/>
                      </a:lnTo>
                      <a:lnTo>
                        <a:pt x="51239" y="573941"/>
                      </a:lnTo>
                      <a:cubicBezTo>
                        <a:pt x="38009" y="554357"/>
                        <a:pt x="26613" y="533431"/>
                        <a:pt x="17299" y="511411"/>
                      </a:cubicBezTo>
                      <a:lnTo>
                        <a:pt x="0" y="455684"/>
                      </a:lnTo>
                      <a:lnTo>
                        <a:pt x="83354" y="368122"/>
                      </a:lnTo>
                      <a:lnTo>
                        <a:pt x="0" y="280560"/>
                      </a:lnTo>
                      <a:lnTo>
                        <a:pt x="17299" y="224832"/>
                      </a:lnTo>
                      <a:cubicBezTo>
                        <a:pt x="26613" y="202811"/>
                        <a:pt x="38009" y="181885"/>
                        <a:pt x="51239" y="162301"/>
                      </a:cubicBezTo>
                      <a:lnTo>
                        <a:pt x="68547" y="141324"/>
                      </a:lnTo>
                      <a:lnTo>
                        <a:pt x="219923" y="163268"/>
                      </a:lnTo>
                      <a:lnTo>
                        <a:pt x="287394" y="6966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Oval 156"/>
                <p:cNvSpPr/>
                <p:nvPr/>
              </p:nvSpPr>
              <p:spPr>
                <a:xfrm>
                  <a:off x="8253020" y="5080725"/>
                  <a:ext cx="332887" cy="331989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67" name="Picture 166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8955161" y="3589261"/>
              <a:ext cx="579707" cy="467506"/>
            </a:xfrm>
            <a:prstGeom prst="rect">
              <a:avLst/>
            </a:prstGeom>
          </p:spPr>
        </p:pic>
        <p:pic>
          <p:nvPicPr>
            <p:cNvPr id="171" name="Picture 170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11097852" y="4091331"/>
              <a:ext cx="387470" cy="312476"/>
            </a:xfrm>
            <a:prstGeom prst="rect">
              <a:avLst/>
            </a:prstGeom>
          </p:spPr>
        </p:pic>
        <p:cxnSp>
          <p:nvCxnSpPr>
            <p:cNvPr id="172" name="Straight Arrow Connector 171"/>
            <p:cNvCxnSpPr/>
            <p:nvPr/>
          </p:nvCxnSpPr>
          <p:spPr>
            <a:xfrm>
              <a:off x="2151500" y="2577232"/>
              <a:ext cx="1" cy="9586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TextBox 174"/>
            <p:cNvSpPr txBox="1"/>
            <p:nvPr/>
          </p:nvSpPr>
          <p:spPr>
            <a:xfrm>
              <a:off x="74471" y="2278931"/>
              <a:ext cx="17380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Conveyor Assembly Line</a:t>
              </a:r>
              <a:endParaRPr lang="en-US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7506758" y="5850137"/>
              <a:ext cx="250531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*If </a:t>
              </a:r>
              <a:r>
                <a:rPr lang="en-US" sz="1400" dirty="0">
                  <a:solidFill>
                    <a:srgbClr val="FF0000"/>
                  </a:solidFill>
                </a:rPr>
                <a:t>the Scanner/Conveyor is not working, use the HHT device for </a:t>
              </a:r>
              <a:r>
                <a:rPr lang="en-US" sz="1400" dirty="0" smtClean="0">
                  <a:solidFill>
                    <a:srgbClr val="FF0000"/>
                  </a:solidFill>
                </a:rPr>
                <a:t>manually scanning </a:t>
              </a:r>
              <a:r>
                <a:rPr lang="en-US" sz="1400" dirty="0">
                  <a:solidFill>
                    <a:srgbClr val="FF0000"/>
                  </a:solidFill>
                </a:rPr>
                <a:t>and printing shipper labels. Schedule these tasks for the end of the day.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1505179" y="2577232"/>
              <a:ext cx="65267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Picture 109"/>
            <p:cNvPicPr>
              <a:picLocks noChangeAspect="1"/>
            </p:cNvPicPr>
            <p:nvPr/>
          </p:nvPicPr>
          <p:blipFill rotWithShape="1">
            <a:blip r:embed="rId7"/>
            <a:srcRect l="19003" t="13679" r="10310" b="21083"/>
            <a:stretch/>
          </p:blipFill>
          <p:spPr>
            <a:xfrm rot="14670926">
              <a:off x="4621883" y="5225300"/>
              <a:ext cx="347731" cy="449152"/>
            </a:xfrm>
            <a:prstGeom prst="rect">
              <a:avLst/>
            </a:prstGeom>
          </p:spPr>
        </p:pic>
        <p:sp>
          <p:nvSpPr>
            <p:cNvPr id="119" name="Oval 118"/>
            <p:cNvSpPr/>
            <p:nvPr/>
          </p:nvSpPr>
          <p:spPr>
            <a:xfrm>
              <a:off x="4305603" y="5196299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0" name="Straight Arrow Connector 119"/>
            <p:cNvCxnSpPr/>
            <p:nvPr/>
          </p:nvCxnSpPr>
          <p:spPr>
            <a:xfrm flipV="1">
              <a:off x="3477704" y="3988496"/>
              <a:ext cx="486255" cy="13713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2343542" y="5944302"/>
              <a:ext cx="21048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*Map the Line and Bin barcode Label into the system.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23" name="Curved Left Arrow 122"/>
            <p:cNvSpPr/>
            <p:nvPr/>
          </p:nvSpPr>
          <p:spPr>
            <a:xfrm rot="16200000">
              <a:off x="6995838" y="3384318"/>
              <a:ext cx="430815" cy="698387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Arrow Connector 123"/>
            <p:cNvCxnSpPr/>
            <p:nvPr/>
          </p:nvCxnSpPr>
          <p:spPr>
            <a:xfrm flipH="1" flipV="1">
              <a:off x="7991438" y="3937840"/>
              <a:ext cx="16622" cy="103598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50" r="28851"/>
            <a:stretch/>
          </p:blipFill>
          <p:spPr>
            <a:xfrm>
              <a:off x="7727227" y="4823371"/>
              <a:ext cx="694936" cy="1097890"/>
            </a:xfrm>
            <a:prstGeom prst="rect">
              <a:avLst/>
            </a:prstGeom>
          </p:spPr>
        </p:pic>
        <p:cxnSp>
          <p:nvCxnSpPr>
            <p:cNvPr id="103" name="Straight Arrow Connector 102"/>
            <p:cNvCxnSpPr/>
            <p:nvPr/>
          </p:nvCxnSpPr>
          <p:spPr>
            <a:xfrm>
              <a:off x="6890578" y="2552572"/>
              <a:ext cx="1" cy="95864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18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3204" y="138854"/>
            <a:ext cx="11425664" cy="6269296"/>
            <a:chOff x="603204" y="138854"/>
            <a:chExt cx="11425664" cy="6269296"/>
          </a:xfrm>
        </p:grpSpPr>
        <p:pic>
          <p:nvPicPr>
            <p:cNvPr id="262" name="Picture 261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05" t="6099" r="85844" b="66935"/>
            <a:stretch/>
          </p:blipFill>
          <p:spPr>
            <a:xfrm>
              <a:off x="4232929" y="218203"/>
              <a:ext cx="576688" cy="709803"/>
            </a:xfrm>
            <a:prstGeom prst="rect">
              <a:avLst/>
            </a:prstGeom>
          </p:spPr>
        </p:pic>
        <p:sp>
          <p:nvSpPr>
            <p:cNvPr id="6" name="Rounded Rectangle 5"/>
            <p:cNvSpPr/>
            <p:nvPr/>
          </p:nvSpPr>
          <p:spPr>
            <a:xfrm rot="16200000">
              <a:off x="3711748" y="3208113"/>
              <a:ext cx="2334057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444836" y="2357043"/>
              <a:ext cx="8680363" cy="121061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scene3d>
              <a:camera prst="perspectiveFron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2445838" y="3068578"/>
              <a:ext cx="867936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2423649" y="1347735"/>
              <a:ext cx="914723" cy="1613837"/>
              <a:chOff x="2191555" y="1451582"/>
              <a:chExt cx="985786" cy="1591590"/>
            </a:xfrm>
          </p:grpSpPr>
          <p:pic>
            <p:nvPicPr>
              <p:cNvPr id="95" name="Picture 9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80" r="34380"/>
              <a:stretch/>
            </p:blipFill>
            <p:spPr>
              <a:xfrm flipH="1">
                <a:off x="2191555" y="1451582"/>
                <a:ext cx="891185" cy="159159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96" name="Picture 9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40" t="15775" r="5180" b="15118"/>
              <a:stretch/>
            </p:blipFill>
            <p:spPr>
              <a:xfrm rot="16200000" flipV="1">
                <a:off x="2720102" y="2234780"/>
                <a:ext cx="650305" cy="264173"/>
              </a:xfrm>
              <a:prstGeom prst="rect">
                <a:avLst/>
              </a:prstGeom>
            </p:spPr>
          </p:pic>
        </p:grp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3931155" y="2541221"/>
              <a:ext cx="347731" cy="44915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3147454" y="2554801"/>
              <a:ext cx="347731" cy="449152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 flipH="1">
              <a:off x="4815781" y="1205773"/>
              <a:ext cx="141896" cy="187150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144491" y="1206380"/>
              <a:ext cx="838501" cy="13754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00" t="12076" r="18184" b="19732"/>
            <a:stretch/>
          </p:blipFill>
          <p:spPr>
            <a:xfrm>
              <a:off x="4318154" y="1142343"/>
              <a:ext cx="624044" cy="561012"/>
            </a:xfrm>
            <a:prstGeom prst="rect">
              <a:avLst/>
            </a:prstGeom>
          </p:spPr>
        </p:pic>
        <p:sp>
          <p:nvSpPr>
            <p:cNvPr id="15" name="Rounded Rectangle 14"/>
            <p:cNvSpPr/>
            <p:nvPr/>
          </p:nvSpPr>
          <p:spPr>
            <a:xfrm rot="16200000">
              <a:off x="4012665" y="1364243"/>
              <a:ext cx="418864" cy="15521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Merge 15">
              <a:extLst>
                <a:ext uri="{FF2B5EF4-FFF2-40B4-BE49-F238E27FC236}">
                  <a16:creationId xmlns:a16="http://schemas.microsoft.com/office/drawing/2014/main" xmlns="" id="{64134540-0620-34FF-9D58-4C50DA4C550F}"/>
                </a:ext>
              </a:extLst>
            </p:cNvPr>
            <p:cNvSpPr/>
            <p:nvPr/>
          </p:nvSpPr>
          <p:spPr>
            <a:xfrm rot="1963035" flipV="1">
              <a:off x="4222460" y="1482574"/>
              <a:ext cx="278706" cy="1128434"/>
            </a:xfrm>
            <a:prstGeom prst="flowChartMerg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7" name="Straight Connector 16"/>
            <p:cNvCxnSpPr/>
            <p:nvPr/>
          </p:nvCxnSpPr>
          <p:spPr>
            <a:xfrm flipH="1" flipV="1">
              <a:off x="4482212" y="3559093"/>
              <a:ext cx="728138" cy="12842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4994663" y="3600920"/>
              <a:ext cx="501306" cy="7993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4444604" y="3782447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4680391" y="4186353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2693117" y="3200541"/>
              <a:ext cx="2402401" cy="201767"/>
              <a:chOff x="1513076" y="3558984"/>
              <a:chExt cx="2402401" cy="201767"/>
            </a:xfrm>
          </p:grpSpPr>
          <p:sp>
            <p:nvSpPr>
              <p:cNvPr id="94" name="Oval 93"/>
              <p:cNvSpPr/>
              <p:nvPr/>
            </p:nvSpPr>
            <p:spPr>
              <a:xfrm>
                <a:off x="1513076" y="357986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2229762" y="3572075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/>
              <p:cNvSpPr/>
              <p:nvPr/>
            </p:nvSpPr>
            <p:spPr>
              <a:xfrm>
                <a:off x="2999972" y="355898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3734101" y="356408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Oval 25"/>
            <p:cNvSpPr/>
            <p:nvPr/>
          </p:nvSpPr>
          <p:spPr>
            <a:xfrm>
              <a:off x="5161369" y="3700056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5385541" y="4023731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6929074" flipH="1">
              <a:off x="4764894" y="3654917"/>
              <a:ext cx="347731" cy="449152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5400000">
              <a:off x="5083481" y="2533614"/>
              <a:ext cx="347731" cy="449152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2350897" y="780453"/>
              <a:ext cx="142562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Laser Marking </a:t>
              </a:r>
            </a:p>
            <a:p>
              <a:r>
                <a:rPr lang="en-US" sz="1400" dirty="0" smtClean="0"/>
                <a:t>Machine for QR Code Marking</a:t>
              </a:r>
              <a:endParaRPr lang="en-US" sz="14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055906" y="863086"/>
              <a:ext cx="15074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FMS Scanner</a:t>
              </a:r>
              <a:endParaRPr lang="en-US" sz="14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13016" y="1375789"/>
              <a:ext cx="98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Packed in Mono boxes</a:t>
              </a:r>
              <a:endParaRPr lang="en-US" sz="1200" dirty="0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H="1" flipV="1">
              <a:off x="5213690" y="4355549"/>
              <a:ext cx="188839" cy="6095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5183567" y="4863487"/>
              <a:ext cx="1145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Non –barcoded items</a:t>
              </a:r>
              <a:endParaRPr lang="en-US" sz="1200" dirty="0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H="1">
              <a:off x="7427000" y="1738100"/>
              <a:ext cx="210620" cy="82671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6496107" y="4807712"/>
              <a:ext cx="2086466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*If </a:t>
              </a:r>
              <a:r>
                <a:rPr lang="en-US" sz="1400" dirty="0">
                  <a:solidFill>
                    <a:srgbClr val="FF0000"/>
                  </a:solidFill>
                </a:rPr>
                <a:t>the Scanner/Conveyor is not working, use the HHT device for </a:t>
              </a:r>
              <a:r>
                <a:rPr lang="en-US" sz="1400" dirty="0" smtClean="0">
                  <a:solidFill>
                    <a:srgbClr val="FF0000"/>
                  </a:solidFill>
                </a:rPr>
                <a:t>manually scanning </a:t>
              </a:r>
              <a:r>
                <a:rPr lang="en-US" sz="1400" dirty="0">
                  <a:solidFill>
                    <a:srgbClr val="FF0000"/>
                  </a:solidFill>
                </a:rPr>
                <a:t>and printing shipper labels. Schedule these tasks for the end of the day.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4958203" y="4598046"/>
              <a:ext cx="173110" cy="181766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 flipV="1">
              <a:off x="3050977" y="2677909"/>
              <a:ext cx="700337" cy="12492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urved Left Arrow 55"/>
            <p:cNvSpPr/>
            <p:nvPr/>
          </p:nvSpPr>
          <p:spPr>
            <a:xfrm rot="16200000">
              <a:off x="5437102" y="2259675"/>
              <a:ext cx="215408" cy="349194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>
            <a:xfrm flipH="1" flipV="1">
              <a:off x="4963348" y="2933950"/>
              <a:ext cx="1970166" cy="101390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Picture 57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50" r="28851"/>
            <a:stretch/>
          </p:blipFill>
          <p:spPr>
            <a:xfrm>
              <a:off x="6803437" y="3782447"/>
              <a:ext cx="694936" cy="1097890"/>
            </a:xfrm>
            <a:prstGeom prst="rect">
              <a:avLst/>
            </a:prstGeom>
          </p:spPr>
        </p:pic>
        <p:cxnSp>
          <p:nvCxnSpPr>
            <p:cNvPr id="59" name="Straight Arrow Connector 58"/>
            <p:cNvCxnSpPr/>
            <p:nvPr/>
          </p:nvCxnSpPr>
          <p:spPr>
            <a:xfrm>
              <a:off x="5736910" y="1829212"/>
              <a:ext cx="9274" cy="76271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603204" y="2271038"/>
              <a:ext cx="1817354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*All human interactions process to be completed before </a:t>
              </a:r>
              <a:r>
                <a:rPr lang="en-US" sz="1400" dirty="0" smtClean="0">
                  <a:solidFill>
                    <a:srgbClr val="FF0000"/>
                  </a:solidFill>
                </a:rPr>
                <a:t>laser marking process.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5564807" y="3185849"/>
              <a:ext cx="2402401" cy="201767"/>
              <a:chOff x="1513076" y="3558984"/>
              <a:chExt cx="2402401" cy="201767"/>
            </a:xfrm>
          </p:grpSpPr>
          <p:sp>
            <p:nvSpPr>
              <p:cNvPr id="102" name="Oval 101"/>
              <p:cNvSpPr/>
              <p:nvPr/>
            </p:nvSpPr>
            <p:spPr>
              <a:xfrm>
                <a:off x="1513076" y="357986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2229762" y="3572075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2999972" y="355898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3734101" y="356408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/>
            <p:cNvGrpSpPr/>
            <p:nvPr/>
          </p:nvGrpSpPr>
          <p:grpSpPr>
            <a:xfrm>
              <a:off x="8495383" y="3185641"/>
              <a:ext cx="2324299" cy="207336"/>
              <a:chOff x="1513076" y="3558984"/>
              <a:chExt cx="2324299" cy="207336"/>
            </a:xfrm>
          </p:grpSpPr>
          <p:sp>
            <p:nvSpPr>
              <p:cNvPr id="107" name="Oval 106"/>
              <p:cNvSpPr/>
              <p:nvPr/>
            </p:nvSpPr>
            <p:spPr>
              <a:xfrm>
                <a:off x="1513076" y="357986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2229762" y="3572075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2999972" y="3558984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/>
              <p:cNvSpPr/>
              <p:nvPr/>
            </p:nvSpPr>
            <p:spPr>
              <a:xfrm>
                <a:off x="3655999" y="3585433"/>
                <a:ext cx="181376" cy="180887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2" name="Group 221"/>
            <p:cNvGrpSpPr/>
            <p:nvPr/>
          </p:nvGrpSpPr>
          <p:grpSpPr>
            <a:xfrm>
              <a:off x="2519661" y="3746606"/>
              <a:ext cx="1639436" cy="1645882"/>
              <a:chOff x="2519661" y="3746606"/>
              <a:chExt cx="1639436" cy="1645882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2519661" y="4653824"/>
                <a:ext cx="155763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rgbClr val="FF0000"/>
                    </a:solidFill>
                  </a:rPr>
                  <a:t>*Map the Line and Bin barcode Label into the system.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116" name="Picture 115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64" t="12871" r="7792" b="13696"/>
              <a:stretch/>
            </p:blipFill>
            <p:spPr>
              <a:xfrm>
                <a:off x="3476367" y="3746606"/>
                <a:ext cx="681869" cy="565311"/>
              </a:xfrm>
              <a:prstGeom prst="rect">
                <a:avLst/>
              </a:prstGeom>
            </p:spPr>
          </p:pic>
          <p:grpSp>
            <p:nvGrpSpPr>
              <p:cNvPr id="135" name="Group 134"/>
              <p:cNvGrpSpPr/>
              <p:nvPr/>
            </p:nvGrpSpPr>
            <p:grpSpPr>
              <a:xfrm>
                <a:off x="3511659" y="4372487"/>
                <a:ext cx="647438" cy="246726"/>
                <a:chOff x="2606879" y="5719577"/>
                <a:chExt cx="647438" cy="246726"/>
              </a:xfrm>
            </p:grpSpPr>
            <p:grpSp>
              <p:nvGrpSpPr>
                <p:cNvPr id="122" name="Group 121"/>
                <p:cNvGrpSpPr/>
                <p:nvPr/>
              </p:nvGrpSpPr>
              <p:grpSpPr>
                <a:xfrm>
                  <a:off x="2606879" y="5719577"/>
                  <a:ext cx="647438" cy="246726"/>
                  <a:chOff x="2388150" y="5990903"/>
                  <a:chExt cx="923270" cy="351840"/>
                </a:xfrm>
              </p:grpSpPr>
              <p:sp>
                <p:nvSpPr>
                  <p:cNvPr id="118" name="Rounded Rectangle 117"/>
                  <p:cNvSpPr/>
                  <p:nvPr/>
                </p:nvSpPr>
                <p:spPr>
                  <a:xfrm>
                    <a:off x="2388150" y="5990903"/>
                    <a:ext cx="923137" cy="351840"/>
                  </a:xfrm>
                  <a:prstGeom prst="round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scene3d>
                    <a:camera prst="perspectiveFront"/>
                    <a:lightRig rig="threePt" dir="t"/>
                  </a:scene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19" name="Straight Connector 118"/>
                  <p:cNvCxnSpPr/>
                  <p:nvPr/>
                </p:nvCxnSpPr>
                <p:spPr>
                  <a:xfrm flipV="1">
                    <a:off x="2405692" y="6163854"/>
                    <a:ext cx="905728" cy="11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4" name="Straight Connector 123"/>
                <p:cNvCxnSpPr/>
                <p:nvPr/>
              </p:nvCxnSpPr>
              <p:spPr>
                <a:xfrm flipV="1">
                  <a:off x="2686744" y="5848350"/>
                  <a:ext cx="91667" cy="10795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 flipV="1">
                  <a:off x="2812442" y="5858353"/>
                  <a:ext cx="91667" cy="10795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 flipV="1">
                  <a:off x="2945410" y="5851187"/>
                  <a:ext cx="91667" cy="10795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 flipV="1">
                  <a:off x="3088918" y="5848350"/>
                  <a:ext cx="91667" cy="10795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43" name="Picture 142"/>
            <p:cNvPicPr>
              <a:picLocks noChangeAspect="1"/>
            </p:cNvPicPr>
            <p:nvPr/>
          </p:nvPicPr>
          <p:blipFill rotWithShape="1">
            <a:blip r:embed="rId5"/>
            <a:srcRect l="19003" t="13679" r="10310" b="21083"/>
            <a:stretch/>
          </p:blipFill>
          <p:spPr>
            <a:xfrm rot="6929074" flipH="1">
              <a:off x="5047652" y="4147759"/>
              <a:ext cx="347731" cy="449152"/>
            </a:xfrm>
            <a:prstGeom prst="rect">
              <a:avLst/>
            </a:prstGeom>
          </p:spPr>
        </p:pic>
        <p:grpSp>
          <p:nvGrpSpPr>
            <p:cNvPr id="152" name="Group 151"/>
            <p:cNvGrpSpPr/>
            <p:nvPr/>
          </p:nvGrpSpPr>
          <p:grpSpPr>
            <a:xfrm>
              <a:off x="5625196" y="2544360"/>
              <a:ext cx="490488" cy="458141"/>
              <a:chOff x="5662571" y="1208412"/>
              <a:chExt cx="414698" cy="387349"/>
            </a:xfrm>
          </p:grpSpPr>
          <p:sp>
            <p:nvSpPr>
              <p:cNvPr id="149" name="Rectangle 148"/>
              <p:cNvSpPr/>
              <p:nvPr/>
            </p:nvSpPr>
            <p:spPr>
              <a:xfrm>
                <a:off x="5662571" y="1208412"/>
                <a:ext cx="414698" cy="38734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Righ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1" name="Picture 150"/>
              <p:cNvPicPr>
                <a:picLocks noChangeAspect="1"/>
              </p:cNvPicPr>
              <p:nvPr/>
            </p:nvPicPr>
            <p:blipFill rotWithShape="1">
              <a:blip r:embed="rId5"/>
              <a:srcRect l="19003" t="13679" r="10310" b="21083"/>
              <a:stretch/>
            </p:blipFill>
            <p:spPr>
              <a:xfrm>
                <a:off x="5751232" y="1248781"/>
                <a:ext cx="237375" cy="306609"/>
              </a:xfrm>
              <a:prstGeom prst="rect">
                <a:avLst/>
              </a:prstGeom>
            </p:spPr>
          </p:pic>
        </p:grpSp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6225189" y="2377495"/>
              <a:ext cx="790499" cy="655372"/>
            </a:xfrm>
            <a:prstGeom prst="rect">
              <a:avLst/>
            </a:prstGeom>
          </p:spPr>
        </p:pic>
        <p:grpSp>
          <p:nvGrpSpPr>
            <p:cNvPr id="157" name="Group 156"/>
            <p:cNvGrpSpPr/>
            <p:nvPr/>
          </p:nvGrpSpPr>
          <p:grpSpPr>
            <a:xfrm>
              <a:off x="6490921" y="2521188"/>
              <a:ext cx="281259" cy="262710"/>
              <a:chOff x="5662571" y="1208412"/>
              <a:chExt cx="414698" cy="387349"/>
            </a:xfrm>
          </p:grpSpPr>
          <p:sp>
            <p:nvSpPr>
              <p:cNvPr id="158" name="Rectangle 157"/>
              <p:cNvSpPr/>
              <p:nvPr/>
            </p:nvSpPr>
            <p:spPr>
              <a:xfrm>
                <a:off x="5662571" y="1208412"/>
                <a:ext cx="414698" cy="38734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Righ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9" name="Picture 158"/>
              <p:cNvPicPr>
                <a:picLocks noChangeAspect="1"/>
              </p:cNvPicPr>
              <p:nvPr/>
            </p:nvPicPr>
            <p:blipFill rotWithShape="1">
              <a:blip r:embed="rId5"/>
              <a:srcRect l="19003" t="13679" r="10310" b="21083"/>
              <a:stretch/>
            </p:blipFill>
            <p:spPr>
              <a:xfrm>
                <a:off x="5751232" y="1248781"/>
                <a:ext cx="237375" cy="306609"/>
              </a:xfrm>
              <a:prstGeom prst="rect">
                <a:avLst/>
              </a:prstGeom>
            </p:spPr>
          </p:pic>
        </p:grpSp>
        <p:sp>
          <p:nvSpPr>
            <p:cNvPr id="162" name="TextBox 161"/>
            <p:cNvSpPr txBox="1"/>
            <p:nvPr/>
          </p:nvSpPr>
          <p:spPr>
            <a:xfrm>
              <a:off x="6308620" y="1362691"/>
              <a:ext cx="9847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Mono boxes kept in Bin</a:t>
              </a:r>
              <a:endParaRPr lang="en-US" sz="1200" dirty="0"/>
            </a:p>
          </p:txBody>
        </p:sp>
        <p:pic>
          <p:nvPicPr>
            <p:cNvPr id="168" name="Picture 167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118" b="20950"/>
            <a:stretch/>
          </p:blipFill>
          <p:spPr>
            <a:xfrm>
              <a:off x="7074567" y="2415451"/>
              <a:ext cx="679758" cy="626001"/>
            </a:xfrm>
            <a:prstGeom prst="rect">
              <a:avLst/>
            </a:prstGeom>
          </p:spPr>
        </p:pic>
        <p:sp>
          <p:nvSpPr>
            <p:cNvPr id="167" name="Curved Left Arrow 166"/>
            <p:cNvSpPr/>
            <p:nvPr/>
          </p:nvSpPr>
          <p:spPr>
            <a:xfrm rot="16200000">
              <a:off x="6895843" y="2197918"/>
              <a:ext cx="258773" cy="529251"/>
            </a:xfrm>
            <a:prstGeom prst="curvedLeftArrow">
              <a:avLst/>
            </a:prstGeom>
            <a:solidFill>
              <a:schemeClr val="accent6">
                <a:lumMod val="60000"/>
                <a:lumOff val="40000"/>
              </a:schemeClr>
            </a:solidFill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  <a:reflection blurRad="6350" stA="52000" endA="300" endPos="35000" dir="5400000" sy="-100000" algn="bl" rotWithShape="0"/>
            </a:effectLst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7244862" y="1359896"/>
              <a:ext cx="1148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Mono boxes kept in Carton</a:t>
              </a:r>
              <a:endParaRPr lang="en-US" sz="1200" dirty="0"/>
            </a:p>
          </p:txBody>
        </p:sp>
        <p:grpSp>
          <p:nvGrpSpPr>
            <p:cNvPr id="172" name="Group 171"/>
            <p:cNvGrpSpPr/>
            <p:nvPr/>
          </p:nvGrpSpPr>
          <p:grpSpPr>
            <a:xfrm>
              <a:off x="7259930" y="2564858"/>
              <a:ext cx="213915" cy="199807"/>
              <a:chOff x="5662571" y="1208412"/>
              <a:chExt cx="414698" cy="387349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5662571" y="1208412"/>
                <a:ext cx="414698" cy="38734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scene3d>
                <a:camera prst="perspectiveRigh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4" name="Picture 173"/>
              <p:cNvPicPr>
                <a:picLocks noChangeAspect="1"/>
              </p:cNvPicPr>
              <p:nvPr/>
            </p:nvPicPr>
            <p:blipFill rotWithShape="1">
              <a:blip r:embed="rId5"/>
              <a:srcRect l="19003" t="13679" r="10310" b="21083"/>
              <a:stretch/>
            </p:blipFill>
            <p:spPr>
              <a:xfrm>
                <a:off x="5751232" y="1248781"/>
                <a:ext cx="237375" cy="306609"/>
              </a:xfrm>
              <a:prstGeom prst="rect">
                <a:avLst/>
              </a:prstGeom>
            </p:spPr>
          </p:pic>
        </p:grpSp>
        <p:cxnSp>
          <p:nvCxnSpPr>
            <p:cNvPr id="179" name="Straight Arrow Connector 178"/>
            <p:cNvCxnSpPr>
              <a:endCxn id="46" idx="0"/>
            </p:cNvCxnSpPr>
            <p:nvPr/>
          </p:nvCxnSpPr>
          <p:spPr>
            <a:xfrm flipH="1">
              <a:off x="8437854" y="1606694"/>
              <a:ext cx="179238" cy="8873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/>
            <p:cNvSpPr txBox="1"/>
            <p:nvPr/>
          </p:nvSpPr>
          <p:spPr>
            <a:xfrm>
              <a:off x="8279659" y="1031779"/>
              <a:ext cx="11489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Capturing Weight of Carton box</a:t>
              </a:r>
              <a:endParaRPr lang="en-US" sz="1200" dirty="0"/>
            </a:p>
          </p:txBody>
        </p:sp>
        <p:grpSp>
          <p:nvGrpSpPr>
            <p:cNvPr id="191" name="Group 190"/>
            <p:cNvGrpSpPr/>
            <p:nvPr/>
          </p:nvGrpSpPr>
          <p:grpSpPr>
            <a:xfrm>
              <a:off x="8028808" y="2813717"/>
              <a:ext cx="858172" cy="263561"/>
              <a:chOff x="7974014" y="1248236"/>
              <a:chExt cx="858172" cy="263561"/>
            </a:xfrm>
          </p:grpSpPr>
          <p:sp>
            <p:nvSpPr>
              <p:cNvPr id="183" name="Rounded Rectangle 182"/>
              <p:cNvSpPr/>
              <p:nvPr/>
            </p:nvSpPr>
            <p:spPr>
              <a:xfrm>
                <a:off x="7974014" y="1296811"/>
                <a:ext cx="858172" cy="20770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Connector 184"/>
              <p:cNvCxnSpPr/>
              <p:nvPr/>
            </p:nvCxnSpPr>
            <p:spPr>
              <a:xfrm flipV="1">
                <a:off x="8049419" y="1248236"/>
                <a:ext cx="90682" cy="23383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/>
              <p:nvPr/>
            </p:nvCxnSpPr>
            <p:spPr>
              <a:xfrm flipV="1">
                <a:off x="8186937" y="1256787"/>
                <a:ext cx="98893" cy="2550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>
              <a:xfrm flipV="1">
                <a:off x="8328114" y="1257721"/>
                <a:ext cx="85165" cy="21960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>
              <a:xfrm flipV="1">
                <a:off x="8466177" y="1252958"/>
                <a:ext cx="85165" cy="21960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>
              <a:xfrm flipV="1">
                <a:off x="8593626" y="1277865"/>
                <a:ext cx="85165" cy="2196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>
              <a:xfrm flipV="1">
                <a:off x="8705393" y="1306562"/>
                <a:ext cx="93965" cy="186387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</p:grpSp>
        <p:pic>
          <p:nvPicPr>
            <p:cNvPr id="46" name="Picture 45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8148000" y="2494066"/>
              <a:ext cx="579707" cy="467506"/>
            </a:xfrm>
            <a:prstGeom prst="rect">
              <a:avLst/>
            </a:prstGeom>
          </p:spPr>
        </p:pic>
        <p:grpSp>
          <p:nvGrpSpPr>
            <p:cNvPr id="205" name="Group 204"/>
            <p:cNvGrpSpPr/>
            <p:nvPr/>
          </p:nvGrpSpPr>
          <p:grpSpPr>
            <a:xfrm>
              <a:off x="9084432" y="2435669"/>
              <a:ext cx="701417" cy="565659"/>
              <a:chOff x="7102326" y="2901681"/>
              <a:chExt cx="579707" cy="467506"/>
            </a:xfrm>
          </p:grpSpPr>
          <p:pic>
            <p:nvPicPr>
              <p:cNvPr id="201" name="Picture 200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223" t="9901" r="19352" b="9670"/>
              <a:stretch/>
            </p:blipFill>
            <p:spPr>
              <a:xfrm>
                <a:off x="7102326" y="2901681"/>
                <a:ext cx="579707" cy="467506"/>
              </a:xfrm>
              <a:prstGeom prst="rect">
                <a:avLst/>
              </a:prstGeom>
            </p:spPr>
          </p:pic>
          <p:pic>
            <p:nvPicPr>
              <p:cNvPr id="204" name="Picture 2" descr="Shipping Label Stock Illustrations – 39,677 Shipping Label Stock  Illustrations, Vectors &amp; Clipart - Dreamstime"/>
              <p:cNvPicPr>
                <a:picLocks noChangeAspect="1" noChangeArrowheads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148" t="10667" r="15375" b="11047"/>
              <a:stretch/>
            </p:blipFill>
            <p:spPr bwMode="auto">
              <a:xfrm>
                <a:off x="7300607" y="2962251"/>
                <a:ext cx="325548" cy="1442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" name="Straight Arrow Connector 206"/>
            <p:cNvCxnSpPr/>
            <p:nvPr/>
          </p:nvCxnSpPr>
          <p:spPr>
            <a:xfrm flipH="1">
              <a:off x="9416798" y="1621136"/>
              <a:ext cx="179238" cy="8873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/>
            <p:cNvSpPr txBox="1"/>
            <p:nvPr/>
          </p:nvSpPr>
          <p:spPr>
            <a:xfrm>
              <a:off x="9258603" y="1046221"/>
              <a:ext cx="1148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Print and Apply Shipper Label</a:t>
              </a:r>
              <a:endParaRPr lang="en-US" sz="1200" dirty="0"/>
            </a:p>
          </p:txBody>
        </p:sp>
        <p:grpSp>
          <p:nvGrpSpPr>
            <p:cNvPr id="209" name="Group 208"/>
            <p:cNvGrpSpPr/>
            <p:nvPr/>
          </p:nvGrpSpPr>
          <p:grpSpPr>
            <a:xfrm>
              <a:off x="10257824" y="2410211"/>
              <a:ext cx="701417" cy="565659"/>
              <a:chOff x="7102326" y="2901681"/>
              <a:chExt cx="579707" cy="467506"/>
            </a:xfrm>
          </p:grpSpPr>
          <p:pic>
            <p:nvPicPr>
              <p:cNvPr id="210" name="Picture 209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223" t="9901" r="19352" b="9670"/>
              <a:stretch/>
            </p:blipFill>
            <p:spPr>
              <a:xfrm>
                <a:off x="7102326" y="2901681"/>
                <a:ext cx="579707" cy="467506"/>
              </a:xfrm>
              <a:prstGeom prst="rect">
                <a:avLst/>
              </a:prstGeom>
            </p:spPr>
          </p:pic>
          <p:pic>
            <p:nvPicPr>
              <p:cNvPr id="211" name="Picture 2" descr="Shipping Label Stock Illustrations – 39,677 Shipping Label Stock  Illustrations, Vectors &amp; Clipart - Dreamstime"/>
              <p:cNvPicPr>
                <a:picLocks noChangeAspect="1" noChangeArrowheads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148" t="10667" r="15375" b="11047"/>
              <a:stretch/>
            </p:blipFill>
            <p:spPr bwMode="auto">
              <a:xfrm>
                <a:off x="7300607" y="2962251"/>
                <a:ext cx="325548" cy="1442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4" name="Straight Arrow Connector 213"/>
            <p:cNvCxnSpPr/>
            <p:nvPr/>
          </p:nvCxnSpPr>
          <p:spPr>
            <a:xfrm flipH="1">
              <a:off x="10656579" y="1596632"/>
              <a:ext cx="179238" cy="8873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TextBox 214"/>
            <p:cNvSpPr txBox="1"/>
            <p:nvPr/>
          </p:nvSpPr>
          <p:spPr>
            <a:xfrm>
              <a:off x="10463441" y="1135257"/>
              <a:ext cx="1148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Carton ready for QC testing</a:t>
              </a:r>
              <a:endParaRPr lang="en-US" sz="1200" dirty="0"/>
            </a:p>
          </p:txBody>
        </p:sp>
        <p:cxnSp>
          <p:nvCxnSpPr>
            <p:cNvPr id="219" name="Straight Arrow Connector 218"/>
            <p:cNvCxnSpPr/>
            <p:nvPr/>
          </p:nvCxnSpPr>
          <p:spPr>
            <a:xfrm flipH="1" flipV="1">
              <a:off x="8582573" y="2807433"/>
              <a:ext cx="750605" cy="107580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Rectangle 219"/>
            <p:cNvSpPr/>
            <p:nvPr/>
          </p:nvSpPr>
          <p:spPr>
            <a:xfrm>
              <a:off x="8784857" y="3795732"/>
              <a:ext cx="180719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/>
                <a:t>Rejected boxes,</a:t>
              </a:r>
              <a:br>
                <a:rPr lang="en-US" sz="1200" dirty="0"/>
              </a:br>
              <a:r>
                <a:rPr lang="en-US" sz="1200" dirty="0"/>
                <a:t>Carton weight less than </a:t>
              </a:r>
              <a:br>
                <a:rPr lang="en-US" sz="1200" dirty="0"/>
              </a:br>
              <a:r>
                <a:rPr lang="en-US" sz="1200" dirty="0"/>
                <a:t>tolerance</a:t>
              </a:r>
              <a:br>
                <a:rPr lang="en-US" sz="1200" dirty="0"/>
              </a:br>
              <a:r>
                <a:rPr lang="en-US" sz="1200" i="1" dirty="0">
                  <a:solidFill>
                    <a:srgbClr val="FF0000"/>
                  </a:solidFill>
                </a:rPr>
                <a:t>*Item manually rechecked</a:t>
              </a:r>
              <a:br>
                <a:rPr lang="en-US" sz="1200" i="1" dirty="0">
                  <a:solidFill>
                    <a:srgbClr val="FF0000"/>
                  </a:solidFill>
                </a:rPr>
              </a:br>
              <a:r>
                <a:rPr lang="en-US" sz="1200" i="1" dirty="0">
                  <a:solidFill>
                    <a:srgbClr val="FF0000"/>
                  </a:solidFill>
                </a:rPr>
                <a:t> and repacked</a:t>
              </a:r>
            </a:p>
          </p:txBody>
        </p:sp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05" t="6099" r="85844" b="66935"/>
            <a:stretch/>
          </p:blipFill>
          <p:spPr>
            <a:xfrm>
              <a:off x="2592386" y="138854"/>
              <a:ext cx="576688" cy="709803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05" t="6099" r="85844" b="66935"/>
            <a:stretch/>
          </p:blipFill>
          <p:spPr>
            <a:xfrm>
              <a:off x="8340624" y="346559"/>
              <a:ext cx="576688" cy="709803"/>
            </a:xfrm>
            <a:prstGeom prst="rect">
              <a:avLst/>
            </a:prstGeom>
          </p:spPr>
        </p:pic>
        <p:pic>
          <p:nvPicPr>
            <p:cNvPr id="266" name="Picture 26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50" r="28851"/>
            <a:stretch/>
          </p:blipFill>
          <p:spPr>
            <a:xfrm>
              <a:off x="2592386" y="3695221"/>
              <a:ext cx="694936" cy="1097890"/>
            </a:xfrm>
            <a:prstGeom prst="rect">
              <a:avLst/>
            </a:prstGeom>
          </p:spPr>
        </p:pic>
        <p:pic>
          <p:nvPicPr>
            <p:cNvPr id="267" name="Picture 266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05" t="6099" r="85844" b="66935"/>
            <a:stretch/>
          </p:blipFill>
          <p:spPr>
            <a:xfrm>
              <a:off x="9409163" y="346558"/>
              <a:ext cx="576688" cy="709803"/>
            </a:xfrm>
            <a:prstGeom prst="rect">
              <a:avLst/>
            </a:prstGeom>
          </p:spPr>
        </p:pic>
        <p:pic>
          <p:nvPicPr>
            <p:cNvPr id="268" name="Picture 267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05" t="6099" r="85844" b="66935"/>
            <a:stretch/>
          </p:blipFill>
          <p:spPr>
            <a:xfrm>
              <a:off x="9750238" y="5536664"/>
              <a:ext cx="576688" cy="709803"/>
            </a:xfrm>
            <a:prstGeom prst="rect">
              <a:avLst/>
            </a:prstGeom>
          </p:spPr>
        </p:pic>
        <p:sp>
          <p:nvSpPr>
            <p:cNvPr id="2" name="Rounded Rectangle 1"/>
            <p:cNvSpPr/>
            <p:nvPr/>
          </p:nvSpPr>
          <p:spPr>
            <a:xfrm>
              <a:off x="9596036" y="5392488"/>
              <a:ext cx="2432832" cy="101566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403240" y="5515598"/>
              <a:ext cx="126938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smtClean="0"/>
                <a:t>PC application will display Packing Order details and Quantity Count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5788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8654"/>
            <a:ext cx="11986384" cy="53873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5231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96894" y="1013453"/>
            <a:ext cx="11457070" cy="3203661"/>
            <a:chOff x="396894" y="1013453"/>
            <a:chExt cx="11457070" cy="3203661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9584052" y="1917284"/>
              <a:ext cx="1506828" cy="1249252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1393477" y="2083422"/>
              <a:ext cx="1506828" cy="1249252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4047004" y="1013453"/>
              <a:ext cx="3760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Mono boxes are packed in Carton box</a:t>
              </a:r>
              <a:endParaRPr lang="en-US" dirty="0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396894" y="1013453"/>
              <a:ext cx="3289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Mono boxes are carried in bins </a:t>
              </a:r>
              <a:endParaRPr lang="en-US" dirty="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8594494" y="1720850"/>
              <a:ext cx="1916134" cy="2405640"/>
              <a:chOff x="284081" y="1464971"/>
              <a:chExt cx="1916134" cy="2405640"/>
            </a:xfrm>
          </p:grpSpPr>
          <p:pic>
            <p:nvPicPr>
              <p:cNvPr id="88" name="Picture 8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223" t="9901" r="19352" b="9670"/>
              <a:stretch/>
            </p:blipFill>
            <p:spPr>
              <a:xfrm>
                <a:off x="1638178" y="1887230"/>
                <a:ext cx="562037" cy="453256"/>
              </a:xfrm>
              <a:prstGeom prst="rect">
                <a:avLst/>
              </a:prstGeom>
            </p:spPr>
          </p:pic>
          <p:pic>
            <p:nvPicPr>
              <p:cNvPr id="107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284081" y="1464971"/>
                <a:ext cx="1187887" cy="240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076" t="33377" r="84385" b="55567"/>
            <a:stretch/>
          </p:blipFill>
          <p:spPr>
            <a:xfrm rot="16200000">
              <a:off x="3381211" y="2262001"/>
              <a:ext cx="609601" cy="667657"/>
            </a:xfrm>
            <a:prstGeom prst="rect">
              <a:avLst/>
            </a:prstGeom>
          </p:spPr>
        </p:pic>
        <p:grpSp>
          <p:nvGrpSpPr>
            <p:cNvPr id="6" name="Group 5"/>
            <p:cNvGrpSpPr/>
            <p:nvPr/>
          </p:nvGrpSpPr>
          <p:grpSpPr>
            <a:xfrm>
              <a:off x="4513760" y="1764051"/>
              <a:ext cx="2823003" cy="2405640"/>
              <a:chOff x="4513760" y="1764051"/>
              <a:chExt cx="2823003" cy="2405640"/>
            </a:xfrm>
          </p:grpSpPr>
          <p:pic>
            <p:nvPicPr>
              <p:cNvPr id="58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4513760" y="1764051"/>
                <a:ext cx="1187887" cy="240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58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3118" b="20950"/>
              <a:stretch/>
            </p:blipFill>
            <p:spPr>
              <a:xfrm>
                <a:off x="6227730" y="2356820"/>
                <a:ext cx="1109033" cy="1021328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76" t="8556" r="3537" b="14723"/>
              <a:stretch/>
            </p:blipFill>
            <p:spPr>
              <a:xfrm>
                <a:off x="5689384" y="2342218"/>
                <a:ext cx="475738" cy="399385"/>
              </a:xfrm>
              <a:prstGeom prst="rect">
                <a:avLst/>
              </a:prstGeom>
            </p:spPr>
          </p:pic>
          <p:sp>
            <p:nvSpPr>
              <p:cNvPr id="118" name="Curved Left Arrow 117"/>
              <p:cNvSpPr/>
              <p:nvPr/>
            </p:nvSpPr>
            <p:spPr>
              <a:xfrm rot="16200000">
                <a:off x="6126604" y="1827166"/>
                <a:ext cx="430815" cy="698387"/>
              </a:xfrm>
              <a:prstGeom prst="curvedLeft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  <a:outerShdw blurRad="50800" dist="38100" dir="10800000" algn="r" rotWithShape="0">
                  <a:prstClr val="black">
                    <a:alpha val="40000"/>
                  </a:prstClr>
                </a:outerShdw>
                <a:reflection blurRad="6350" stA="52000" endA="300" endPos="35000" dir="5400000" sy="-100000" algn="bl" rotWithShape="0"/>
              </a:effectLst>
              <a:scene3d>
                <a:camera prst="isometricOffAxis2Left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21" name="Picture 12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1810972" y="2521273"/>
              <a:ext cx="387470" cy="312476"/>
            </a:xfrm>
            <a:prstGeom prst="rect">
              <a:avLst/>
            </a:prstGeom>
          </p:spPr>
        </p:pic>
        <p:pic>
          <p:nvPicPr>
            <p:cNvPr id="127" name="Picture 2" descr="https://o.remove.bg/downloads/86b6238f-c794-46a6-ada4-f6431caacad8/DALL_E_2023-05-18_16.28.41_-_a_factory_person_carrying_bulbs_in_trolley_animated-removebg-preview.pn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91" r="60146"/>
            <a:stretch/>
          </p:blipFill>
          <p:spPr bwMode="auto">
            <a:xfrm>
              <a:off x="433026" y="1811474"/>
              <a:ext cx="1187887" cy="2405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Picture 12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3" t="9901" r="19352" b="9670"/>
            <a:stretch/>
          </p:blipFill>
          <p:spPr>
            <a:xfrm>
              <a:off x="2154642" y="2331946"/>
              <a:ext cx="387470" cy="312476"/>
            </a:xfrm>
            <a:prstGeom prst="rect">
              <a:avLst/>
            </a:prstGeom>
          </p:spPr>
        </p:pic>
        <p:sp>
          <p:nvSpPr>
            <p:cNvPr id="130" name="TextBox 129"/>
            <p:cNvSpPr txBox="1"/>
            <p:nvPr/>
          </p:nvSpPr>
          <p:spPr>
            <a:xfrm>
              <a:off x="8564847" y="1013453"/>
              <a:ext cx="3289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Carton boxes are carried in bins </a:t>
              </a:r>
              <a:endParaRPr lang="en-US" dirty="0"/>
            </a:p>
          </p:txBody>
        </p: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1076" t="33377" r="84385" b="55567"/>
            <a:stretch/>
          </p:blipFill>
          <p:spPr>
            <a:xfrm rot="16200000">
              <a:off x="7892077" y="2340709"/>
              <a:ext cx="609601" cy="667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9978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208256" y="1013453"/>
            <a:ext cx="11983744" cy="3378164"/>
            <a:chOff x="208256" y="1013453"/>
            <a:chExt cx="11983744" cy="3378164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1163948" y="1570636"/>
              <a:ext cx="2048505" cy="1698335"/>
            </a:xfrm>
            <a:prstGeom prst="rect">
              <a:avLst/>
            </a:prstGeom>
          </p:spPr>
        </p:pic>
        <p:grpSp>
          <p:nvGrpSpPr>
            <p:cNvPr id="11" name="Group 10"/>
            <p:cNvGrpSpPr/>
            <p:nvPr/>
          </p:nvGrpSpPr>
          <p:grpSpPr>
            <a:xfrm>
              <a:off x="208256" y="1013453"/>
              <a:ext cx="11983744" cy="3378164"/>
              <a:chOff x="280626" y="1013453"/>
              <a:chExt cx="11983744" cy="3378164"/>
            </a:xfrm>
          </p:grpSpPr>
          <p:sp>
            <p:nvSpPr>
              <p:cNvPr id="83" name="Oval 82"/>
              <p:cNvSpPr/>
              <p:nvPr/>
            </p:nvSpPr>
            <p:spPr>
              <a:xfrm>
                <a:off x="8824410" y="3927161"/>
                <a:ext cx="578256" cy="46445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7622074" y="3927161"/>
                <a:ext cx="578256" cy="46445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6433867" y="3903287"/>
                <a:ext cx="578256" cy="464456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/>
              <p:cNvSpPr/>
              <p:nvPr/>
            </p:nvSpPr>
            <p:spPr>
              <a:xfrm flipH="1">
                <a:off x="7840254" y="3690018"/>
                <a:ext cx="165974" cy="46937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8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5273027" y="1659074"/>
                <a:ext cx="1187887" cy="240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8" name="TextBox 97"/>
              <p:cNvSpPr txBox="1"/>
              <p:nvPr/>
            </p:nvSpPr>
            <p:spPr>
              <a:xfrm>
                <a:off x="5483610" y="1014309"/>
                <a:ext cx="44679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Capturing and validating </a:t>
                </a:r>
                <a:r>
                  <a:rPr lang="en-US" dirty="0"/>
                  <a:t>weight </a:t>
                </a:r>
                <a:r>
                  <a:rPr lang="en-US" dirty="0" smtClean="0"/>
                  <a:t>of Carton </a:t>
                </a:r>
                <a:r>
                  <a:rPr lang="en-US" dirty="0"/>
                  <a:t>box</a:t>
                </a:r>
              </a:p>
              <a:p>
                <a:endParaRPr lang="en-US" dirty="0"/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9603870" y="1871351"/>
                <a:ext cx="26605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Rejected boxes,</a:t>
                </a:r>
                <a:br>
                  <a:rPr lang="en-US" dirty="0" smtClean="0"/>
                </a:br>
                <a:r>
                  <a:rPr lang="en-US" dirty="0" smtClean="0"/>
                  <a:t>Carton weight less than </a:t>
                </a:r>
                <a:br>
                  <a:rPr lang="en-US" dirty="0" smtClean="0"/>
                </a:br>
                <a:r>
                  <a:rPr lang="en-US" dirty="0" smtClean="0"/>
                  <a:t>tolerance</a:t>
                </a:r>
                <a:br>
                  <a:rPr lang="en-US" dirty="0" smtClean="0"/>
                </a:br>
                <a:r>
                  <a:rPr lang="en-US" i="1" dirty="0" smtClean="0">
                    <a:solidFill>
                      <a:srgbClr val="FF0000"/>
                    </a:solidFill>
                  </a:rPr>
                  <a:t>*Item manually rechecked</a:t>
                </a:r>
                <a:br>
                  <a:rPr lang="en-US" i="1" dirty="0" smtClean="0">
                    <a:solidFill>
                      <a:srgbClr val="FF0000"/>
                    </a:solidFill>
                  </a:rPr>
                </a:br>
                <a:r>
                  <a:rPr lang="en-US" i="1" dirty="0" smtClean="0">
                    <a:solidFill>
                      <a:srgbClr val="FF0000"/>
                    </a:solidFill>
                  </a:rPr>
                  <a:t> and repacked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  <p:cxnSp>
            <p:nvCxnSpPr>
              <p:cNvPr id="113" name="Straight Connector 112"/>
              <p:cNvCxnSpPr/>
              <p:nvPr/>
            </p:nvCxnSpPr>
            <p:spPr>
              <a:xfrm flipV="1">
                <a:off x="7911202" y="3279781"/>
                <a:ext cx="389704" cy="38970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>
              <a:xfrm flipV="1">
                <a:off x="8710004" y="3272866"/>
                <a:ext cx="403534" cy="403534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" name="Group 2"/>
              <p:cNvGrpSpPr/>
              <p:nvPr/>
            </p:nvGrpSpPr>
            <p:grpSpPr>
              <a:xfrm>
                <a:off x="6604326" y="3257571"/>
                <a:ext cx="2610810" cy="434123"/>
                <a:chOff x="3131593" y="3106217"/>
                <a:chExt cx="1770081" cy="434123"/>
              </a:xfrm>
            </p:grpSpPr>
            <p:sp>
              <p:nvSpPr>
                <p:cNvPr id="61" name="Rectangle 60"/>
                <p:cNvSpPr/>
                <p:nvPr/>
              </p:nvSpPr>
              <p:spPr>
                <a:xfrm>
                  <a:off x="3152508" y="3110958"/>
                  <a:ext cx="1749166" cy="41212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8" name="Straight Connector 107"/>
                <p:cNvCxnSpPr/>
                <p:nvPr/>
              </p:nvCxnSpPr>
              <p:spPr>
                <a:xfrm flipV="1">
                  <a:off x="3230386" y="3106218"/>
                  <a:ext cx="368107" cy="3681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>
                <a:xfrm flipV="1">
                  <a:off x="3472069" y="3131591"/>
                  <a:ext cx="342734" cy="342732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>
                <a:xfrm flipV="1">
                  <a:off x="3690650" y="3106217"/>
                  <a:ext cx="391407" cy="391407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 flipV="1">
                  <a:off x="3919743" y="3115949"/>
                  <a:ext cx="394265" cy="39426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/>
                <p:nvPr/>
              </p:nvCxnSpPr>
              <p:spPr>
                <a:xfrm flipV="1">
                  <a:off x="4553473" y="3231135"/>
                  <a:ext cx="340126" cy="30920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flipV="1">
                  <a:off x="3131593" y="3117279"/>
                  <a:ext cx="181750" cy="18175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/>
                <p:cNvCxnSpPr/>
                <p:nvPr/>
              </p:nvCxnSpPr>
              <p:spPr>
                <a:xfrm flipV="1">
                  <a:off x="4236608" y="3115949"/>
                  <a:ext cx="394265" cy="394265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35175" y="1412867"/>
                <a:ext cx="2439307" cy="2439307"/>
              </a:xfrm>
              <a:prstGeom prst="rect">
                <a:avLst/>
              </a:prstGeom>
            </p:spPr>
          </p:pic>
          <p:grpSp>
            <p:nvGrpSpPr>
              <p:cNvPr id="64" name="Group 63"/>
              <p:cNvGrpSpPr/>
              <p:nvPr/>
            </p:nvGrpSpPr>
            <p:grpSpPr>
              <a:xfrm>
                <a:off x="7359277" y="2169819"/>
                <a:ext cx="875027" cy="805828"/>
                <a:chOff x="3915273" y="1247632"/>
                <a:chExt cx="1109033" cy="1021328"/>
              </a:xfrm>
            </p:grpSpPr>
            <p:pic>
              <p:nvPicPr>
                <p:cNvPr id="65" name="Picture 64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33118" b="20950"/>
                <a:stretch/>
              </p:blipFill>
              <p:spPr>
                <a:xfrm>
                  <a:off x="3915273" y="1247632"/>
                  <a:ext cx="1109033" cy="1021328"/>
                </a:xfrm>
                <a:prstGeom prst="rect">
                  <a:avLst/>
                </a:prstGeom>
              </p:spPr>
            </p:pic>
            <p:pic>
              <p:nvPicPr>
                <p:cNvPr id="67" name="Picture 66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76" t="8556" r="3537" b="14723"/>
                <a:stretch/>
              </p:blipFill>
              <p:spPr>
                <a:xfrm>
                  <a:off x="4231920" y="1490061"/>
                  <a:ext cx="475738" cy="399385"/>
                </a:xfrm>
                <a:prstGeom prst="rect">
                  <a:avLst/>
                </a:prstGeom>
              </p:spPr>
            </p:pic>
          </p:grpSp>
          <p:cxnSp>
            <p:nvCxnSpPr>
              <p:cNvPr id="68" name="Straight Arrow Connector 67"/>
              <p:cNvCxnSpPr>
                <a:endCxn id="65" idx="3"/>
              </p:cNvCxnSpPr>
              <p:nvPr/>
            </p:nvCxnSpPr>
            <p:spPr>
              <a:xfrm flipH="1">
                <a:off x="8234304" y="2518653"/>
                <a:ext cx="1369566" cy="5408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 68"/>
              <p:cNvGrpSpPr/>
              <p:nvPr/>
            </p:nvGrpSpPr>
            <p:grpSpPr>
              <a:xfrm>
                <a:off x="280626" y="1659074"/>
                <a:ext cx="2382314" cy="2405640"/>
                <a:chOff x="284081" y="1464971"/>
                <a:chExt cx="2382314" cy="2405640"/>
              </a:xfrm>
            </p:grpSpPr>
            <p:pic>
              <p:nvPicPr>
                <p:cNvPr id="72" name="Picture 71"/>
                <p:cNvPicPr>
                  <a:picLocks noChangeAspect="1"/>
                </p:cNvPicPr>
                <p:nvPr/>
              </p:nvPicPr>
              <p:blipFill rotWithShape="1"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223" t="9901" r="19352" b="9670"/>
                <a:stretch/>
              </p:blipFill>
              <p:spPr>
                <a:xfrm>
                  <a:off x="1846574" y="1820961"/>
                  <a:ext cx="819821" cy="661147"/>
                </a:xfrm>
                <a:prstGeom prst="rect">
                  <a:avLst/>
                </a:prstGeom>
              </p:spPr>
            </p:pic>
            <p:pic>
              <p:nvPicPr>
                <p:cNvPr id="74" name="Picture 2" descr="https://o.remove.bg/downloads/86b6238f-c794-46a6-ada4-f6431caacad8/DALL_E_2023-05-18_16.28.41_-_a_factory_person_carrying_bulbs_in_trolley_animated-removebg-preview.png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291" r="60146"/>
                <a:stretch/>
              </p:blipFill>
              <p:spPr bwMode="auto">
                <a:xfrm>
                  <a:off x="284081" y="1464971"/>
                  <a:ext cx="1187887" cy="24056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76" name="Rectangle 75"/>
              <p:cNvSpPr/>
              <p:nvPr/>
            </p:nvSpPr>
            <p:spPr>
              <a:xfrm flipH="1">
                <a:off x="6612352" y="3279782"/>
                <a:ext cx="196744" cy="85573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 flipH="1">
                <a:off x="9058185" y="3267304"/>
                <a:ext cx="171079" cy="86821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396894" y="1013453"/>
                <a:ext cx="32891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Carton boxes are carried in bins </a:t>
                </a:r>
                <a:endParaRPr lang="en-US" dirty="0"/>
              </a:p>
            </p:txBody>
          </p:sp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xmlns="" id="{0DD6195E-CA80-E222-ACAD-C71E92262B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1076" t="33377" r="84385" b="55567"/>
              <a:stretch/>
            </p:blipFill>
            <p:spPr>
              <a:xfrm rot="16200000">
                <a:off x="3966930" y="2109885"/>
                <a:ext cx="609601" cy="6676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24042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546" y="573951"/>
            <a:ext cx="10554998" cy="4653757"/>
            <a:chOff x="499546" y="573951"/>
            <a:chExt cx="10554998" cy="4653757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4512810" y="2017358"/>
              <a:ext cx="2524186" cy="2092703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64" t="12871" r="7792" b="13696"/>
            <a:stretch/>
          </p:blipFill>
          <p:spPr>
            <a:xfrm>
              <a:off x="1598987" y="1825134"/>
              <a:ext cx="2048505" cy="1698335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9565" y="1975445"/>
              <a:ext cx="981829" cy="1077698"/>
            </a:xfrm>
            <a:prstGeom prst="rect">
              <a:avLst/>
            </a:prstGeom>
          </p:spPr>
        </p:pic>
        <p:pic>
          <p:nvPicPr>
            <p:cNvPr id="53" name="Picture 2" descr="Shipping Label Stock Illustrations – 39,677 Shipping Label Stock  Illustrations, Vectors &amp; Clipart - Dreamstime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48" t="10667" r="15375" b="11047"/>
            <a:stretch/>
          </p:blipFill>
          <p:spPr bwMode="auto">
            <a:xfrm>
              <a:off x="1611579" y="2584527"/>
              <a:ext cx="928852" cy="351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2" descr="https://o.remove.bg/downloads/86b6238f-c794-46a6-ada4-f6431caacad8/DALL_E_2023-05-18_16.28.41_-_a_factory_person_carrying_bulbs_in_trolley_animated-removebg-preview.png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291" r="60146"/>
            <a:stretch/>
          </p:blipFill>
          <p:spPr bwMode="auto">
            <a:xfrm>
              <a:off x="499546" y="1959947"/>
              <a:ext cx="1187887" cy="2405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" name="TextBox 104"/>
            <p:cNvSpPr txBox="1"/>
            <p:nvPr/>
          </p:nvSpPr>
          <p:spPr>
            <a:xfrm>
              <a:off x="693697" y="573951"/>
              <a:ext cx="27752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Shipper label Pasted on Carton boxes in bins</a:t>
              </a:r>
              <a:endParaRPr lang="en-US" dirty="0"/>
            </a:p>
          </p:txBody>
        </p:sp>
        <p:cxnSp>
          <p:nvCxnSpPr>
            <p:cNvPr id="106" name="Straight Arrow Connector 105"/>
            <p:cNvCxnSpPr/>
            <p:nvPr/>
          </p:nvCxnSpPr>
          <p:spPr>
            <a:xfrm flipH="1">
              <a:off x="1886522" y="1178803"/>
              <a:ext cx="335" cy="126678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Rectangle 124"/>
            <p:cNvSpPr/>
            <p:nvPr/>
          </p:nvSpPr>
          <p:spPr>
            <a:xfrm>
              <a:off x="5069107" y="769322"/>
              <a:ext cx="194669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/>
                <a:t>Carton boxes with </a:t>
              </a:r>
              <a:br>
                <a:rPr lang="en-US" dirty="0" smtClean="0"/>
              </a:br>
              <a:r>
                <a:rPr lang="en-US" dirty="0" smtClean="0"/>
                <a:t>shipper address</a:t>
              </a:r>
              <a:endParaRPr lang="en-US" dirty="0"/>
            </a:p>
          </p:txBody>
        </p:sp>
        <p:cxnSp>
          <p:nvCxnSpPr>
            <p:cNvPr id="126" name="Straight Arrow Connector 125"/>
            <p:cNvCxnSpPr/>
            <p:nvPr/>
          </p:nvCxnSpPr>
          <p:spPr>
            <a:xfrm>
              <a:off x="5913478" y="1415653"/>
              <a:ext cx="2" cy="100172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1076" t="33377" r="84385" b="55567"/>
            <a:stretch/>
          </p:blipFill>
          <p:spPr>
            <a:xfrm rot="16200000">
              <a:off x="7108032" y="2297470"/>
              <a:ext cx="609601" cy="667657"/>
            </a:xfrm>
            <a:prstGeom prst="rect">
              <a:avLst/>
            </a:prstGeom>
          </p:spPr>
        </p:pic>
        <p:grpSp>
          <p:nvGrpSpPr>
            <p:cNvPr id="4" name="Group 3"/>
            <p:cNvGrpSpPr/>
            <p:nvPr/>
          </p:nvGrpSpPr>
          <p:grpSpPr>
            <a:xfrm>
              <a:off x="7505195" y="691756"/>
              <a:ext cx="3549349" cy="3507665"/>
              <a:chOff x="4331312" y="725133"/>
              <a:chExt cx="3549349" cy="3507665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297628" flipH="1">
                <a:off x="5307448" y="2181692"/>
                <a:ext cx="1504950" cy="1962150"/>
              </a:xfrm>
              <a:prstGeom prst="rect">
                <a:avLst/>
              </a:prstGeom>
            </p:spPr>
          </p:pic>
          <p:pic>
            <p:nvPicPr>
              <p:cNvPr id="60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4331312" y="1827158"/>
                <a:ext cx="1187887" cy="2405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4" name="Straight Arrow Connector 63"/>
              <p:cNvCxnSpPr/>
              <p:nvPr/>
            </p:nvCxnSpPr>
            <p:spPr>
              <a:xfrm flipH="1">
                <a:off x="5956376" y="1581946"/>
                <a:ext cx="401062" cy="104766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/>
              <p:cNvSpPr txBox="1"/>
              <p:nvPr/>
            </p:nvSpPr>
            <p:spPr>
              <a:xfrm>
                <a:off x="5976196" y="725133"/>
                <a:ext cx="19044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Carton ready for QC testing and for dispatch</a:t>
                </a:r>
                <a:endParaRPr lang="en-US" dirty="0"/>
              </a:p>
            </p:txBody>
          </p:sp>
        </p:grp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1076" t="33377" r="84385" b="55567"/>
            <a:stretch/>
          </p:blipFill>
          <p:spPr>
            <a:xfrm rot="16200000">
              <a:off x="4243983" y="2297470"/>
              <a:ext cx="609601" cy="667657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 flipH="1" flipV="1">
              <a:off x="2120790" y="2916658"/>
              <a:ext cx="192688" cy="92605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2120789" y="3842713"/>
              <a:ext cx="225802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</a:rPr>
                <a:t>Shipper Label will be generated in system after counter reaches pack size order Quantity in conveyor process</a:t>
              </a:r>
            </a:p>
            <a:p>
              <a:r>
                <a:rPr lang="en-US" sz="1400" dirty="0" smtClean="0">
                  <a:solidFill>
                    <a:srgbClr val="FF0000"/>
                  </a:solidFill>
                </a:rPr>
                <a:t>  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40" t="11154" r="12653" b="11439"/>
            <a:stretch/>
          </p:blipFill>
          <p:spPr>
            <a:xfrm>
              <a:off x="5158105" y="2501149"/>
              <a:ext cx="1198210" cy="831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52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2" descr="https://o.remove.bg/downloads/86b6238f-c794-46a6-ada4-f6431caacad8/DALL_E_2023-05-18_16.28.41_-_a_factory_person_carrying_bulbs_in_trolley_animated-removebg-preview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1" r="60146"/>
          <a:stretch/>
        </p:blipFill>
        <p:spPr bwMode="auto">
          <a:xfrm>
            <a:off x="-139082" y="1695660"/>
            <a:ext cx="1187887" cy="2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7363232" y="3114893"/>
            <a:ext cx="1038032" cy="414238"/>
            <a:chOff x="2131329" y="3456840"/>
            <a:chExt cx="1158684" cy="414238"/>
          </a:xfrm>
        </p:grpSpPr>
        <p:grpSp>
          <p:nvGrpSpPr>
            <p:cNvPr id="17" name="Group 16"/>
            <p:cNvGrpSpPr/>
            <p:nvPr/>
          </p:nvGrpSpPr>
          <p:grpSpPr>
            <a:xfrm>
              <a:off x="2131329" y="3469931"/>
              <a:ext cx="388474" cy="401147"/>
              <a:chOff x="8072366" y="4893264"/>
              <a:chExt cx="712983" cy="736242"/>
            </a:xfrm>
          </p:grpSpPr>
          <p:sp>
            <p:nvSpPr>
              <p:cNvPr id="21" name="Freeform 20"/>
              <p:cNvSpPr/>
              <p:nvPr/>
            </p:nvSpPr>
            <p:spPr>
              <a:xfrm>
                <a:off x="8072366" y="4893264"/>
                <a:ext cx="712983" cy="736242"/>
              </a:xfrm>
              <a:custGeom>
                <a:avLst/>
                <a:gdLst>
                  <a:gd name="connsiteX0" fmla="*/ 356491 w 712983"/>
                  <a:gd name="connsiteY0" fmla="*/ 0 h 736242"/>
                  <a:gd name="connsiteX1" fmla="*/ 425590 w 712983"/>
                  <a:gd name="connsiteY1" fmla="*/ 6966 h 736242"/>
                  <a:gd name="connsiteX2" fmla="*/ 493060 w 712983"/>
                  <a:gd name="connsiteY2" fmla="*/ 163268 h 736242"/>
                  <a:gd name="connsiteX3" fmla="*/ 644436 w 712983"/>
                  <a:gd name="connsiteY3" fmla="*/ 141325 h 736242"/>
                  <a:gd name="connsiteX4" fmla="*/ 661743 w 712983"/>
                  <a:gd name="connsiteY4" fmla="*/ 162301 h 736242"/>
                  <a:gd name="connsiteX5" fmla="*/ 695683 w 712983"/>
                  <a:gd name="connsiteY5" fmla="*/ 224832 h 736242"/>
                  <a:gd name="connsiteX6" fmla="*/ 712983 w 712983"/>
                  <a:gd name="connsiteY6" fmla="*/ 280561 h 736242"/>
                  <a:gd name="connsiteX7" fmla="*/ 629629 w 712983"/>
                  <a:gd name="connsiteY7" fmla="*/ 368122 h 736242"/>
                  <a:gd name="connsiteX8" fmla="*/ 712982 w 712983"/>
                  <a:gd name="connsiteY8" fmla="*/ 455683 h 736242"/>
                  <a:gd name="connsiteX9" fmla="*/ 695683 w 712983"/>
                  <a:gd name="connsiteY9" fmla="*/ 511411 h 736242"/>
                  <a:gd name="connsiteX10" fmla="*/ 661743 w 712983"/>
                  <a:gd name="connsiteY10" fmla="*/ 573941 h 736242"/>
                  <a:gd name="connsiteX11" fmla="*/ 644435 w 712983"/>
                  <a:gd name="connsiteY11" fmla="*/ 594919 h 736242"/>
                  <a:gd name="connsiteX12" fmla="*/ 493060 w 712983"/>
                  <a:gd name="connsiteY12" fmla="*/ 572975 h 736242"/>
                  <a:gd name="connsiteX13" fmla="*/ 425590 w 712983"/>
                  <a:gd name="connsiteY13" fmla="*/ 729276 h 736242"/>
                  <a:gd name="connsiteX14" fmla="*/ 356491 w 712983"/>
                  <a:gd name="connsiteY14" fmla="*/ 736242 h 736242"/>
                  <a:gd name="connsiteX15" fmla="*/ 287394 w 712983"/>
                  <a:gd name="connsiteY15" fmla="*/ 729277 h 736242"/>
                  <a:gd name="connsiteX16" fmla="*/ 219923 w 712983"/>
                  <a:gd name="connsiteY16" fmla="*/ 572975 h 736242"/>
                  <a:gd name="connsiteX17" fmla="*/ 68548 w 712983"/>
                  <a:gd name="connsiteY17" fmla="*/ 594919 h 736242"/>
                  <a:gd name="connsiteX18" fmla="*/ 51239 w 712983"/>
                  <a:gd name="connsiteY18" fmla="*/ 573941 h 736242"/>
                  <a:gd name="connsiteX19" fmla="*/ 17299 w 712983"/>
                  <a:gd name="connsiteY19" fmla="*/ 511411 h 736242"/>
                  <a:gd name="connsiteX20" fmla="*/ 0 w 712983"/>
                  <a:gd name="connsiteY20" fmla="*/ 455684 h 736242"/>
                  <a:gd name="connsiteX21" fmla="*/ 83354 w 712983"/>
                  <a:gd name="connsiteY21" fmla="*/ 368122 h 736242"/>
                  <a:gd name="connsiteX22" fmla="*/ 0 w 712983"/>
                  <a:gd name="connsiteY22" fmla="*/ 280560 h 736242"/>
                  <a:gd name="connsiteX23" fmla="*/ 17299 w 712983"/>
                  <a:gd name="connsiteY23" fmla="*/ 224832 h 736242"/>
                  <a:gd name="connsiteX24" fmla="*/ 51239 w 712983"/>
                  <a:gd name="connsiteY24" fmla="*/ 162301 h 736242"/>
                  <a:gd name="connsiteX25" fmla="*/ 68547 w 712983"/>
                  <a:gd name="connsiteY25" fmla="*/ 141324 h 736242"/>
                  <a:gd name="connsiteX26" fmla="*/ 219923 w 712983"/>
                  <a:gd name="connsiteY26" fmla="*/ 163268 h 736242"/>
                  <a:gd name="connsiteX27" fmla="*/ 287394 w 712983"/>
                  <a:gd name="connsiteY27" fmla="*/ 6966 h 73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2983" h="736242">
                    <a:moveTo>
                      <a:pt x="356491" y="0"/>
                    </a:moveTo>
                    <a:lnTo>
                      <a:pt x="425590" y="6966"/>
                    </a:lnTo>
                    <a:lnTo>
                      <a:pt x="493060" y="163268"/>
                    </a:lnTo>
                    <a:lnTo>
                      <a:pt x="644436" y="141325"/>
                    </a:lnTo>
                    <a:lnTo>
                      <a:pt x="661743" y="162301"/>
                    </a:lnTo>
                    <a:cubicBezTo>
                      <a:pt x="674974" y="181885"/>
                      <a:pt x="686369" y="202811"/>
                      <a:pt x="695683" y="224832"/>
                    </a:cubicBezTo>
                    <a:lnTo>
                      <a:pt x="712983" y="280561"/>
                    </a:lnTo>
                    <a:lnTo>
                      <a:pt x="629629" y="368122"/>
                    </a:lnTo>
                    <a:lnTo>
                      <a:pt x="712982" y="455683"/>
                    </a:lnTo>
                    <a:lnTo>
                      <a:pt x="695683" y="511411"/>
                    </a:lnTo>
                    <a:cubicBezTo>
                      <a:pt x="686369" y="533431"/>
                      <a:pt x="674974" y="554357"/>
                      <a:pt x="661743" y="573941"/>
                    </a:cubicBezTo>
                    <a:lnTo>
                      <a:pt x="644435" y="594919"/>
                    </a:lnTo>
                    <a:lnTo>
                      <a:pt x="493060" y="572975"/>
                    </a:lnTo>
                    <a:lnTo>
                      <a:pt x="425590" y="729276"/>
                    </a:lnTo>
                    <a:lnTo>
                      <a:pt x="356491" y="736242"/>
                    </a:lnTo>
                    <a:lnTo>
                      <a:pt x="287394" y="729277"/>
                    </a:lnTo>
                    <a:lnTo>
                      <a:pt x="219923" y="572975"/>
                    </a:lnTo>
                    <a:lnTo>
                      <a:pt x="68548" y="594919"/>
                    </a:lnTo>
                    <a:lnTo>
                      <a:pt x="51239" y="573941"/>
                    </a:lnTo>
                    <a:cubicBezTo>
                      <a:pt x="38009" y="554357"/>
                      <a:pt x="26613" y="533431"/>
                      <a:pt x="17299" y="511411"/>
                    </a:cubicBezTo>
                    <a:lnTo>
                      <a:pt x="0" y="455684"/>
                    </a:lnTo>
                    <a:lnTo>
                      <a:pt x="83354" y="368122"/>
                    </a:lnTo>
                    <a:lnTo>
                      <a:pt x="0" y="280560"/>
                    </a:lnTo>
                    <a:lnTo>
                      <a:pt x="17299" y="224832"/>
                    </a:lnTo>
                    <a:cubicBezTo>
                      <a:pt x="26613" y="202811"/>
                      <a:pt x="38009" y="181885"/>
                      <a:pt x="51239" y="162301"/>
                    </a:cubicBezTo>
                    <a:lnTo>
                      <a:pt x="68547" y="141324"/>
                    </a:lnTo>
                    <a:lnTo>
                      <a:pt x="219923" y="163268"/>
                    </a:lnTo>
                    <a:lnTo>
                      <a:pt x="287394" y="69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8253020" y="5080725"/>
                <a:ext cx="332887" cy="33198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901539" y="3456840"/>
              <a:ext cx="388474" cy="401147"/>
              <a:chOff x="8072366" y="4893264"/>
              <a:chExt cx="712983" cy="736242"/>
            </a:xfrm>
          </p:grpSpPr>
          <p:sp>
            <p:nvSpPr>
              <p:cNvPr id="19" name="Freeform 18"/>
              <p:cNvSpPr/>
              <p:nvPr/>
            </p:nvSpPr>
            <p:spPr>
              <a:xfrm>
                <a:off x="8072366" y="4893264"/>
                <a:ext cx="712983" cy="736242"/>
              </a:xfrm>
              <a:custGeom>
                <a:avLst/>
                <a:gdLst>
                  <a:gd name="connsiteX0" fmla="*/ 356491 w 712983"/>
                  <a:gd name="connsiteY0" fmla="*/ 0 h 736242"/>
                  <a:gd name="connsiteX1" fmla="*/ 425590 w 712983"/>
                  <a:gd name="connsiteY1" fmla="*/ 6966 h 736242"/>
                  <a:gd name="connsiteX2" fmla="*/ 493060 w 712983"/>
                  <a:gd name="connsiteY2" fmla="*/ 163268 h 736242"/>
                  <a:gd name="connsiteX3" fmla="*/ 644436 w 712983"/>
                  <a:gd name="connsiteY3" fmla="*/ 141325 h 736242"/>
                  <a:gd name="connsiteX4" fmla="*/ 661743 w 712983"/>
                  <a:gd name="connsiteY4" fmla="*/ 162301 h 736242"/>
                  <a:gd name="connsiteX5" fmla="*/ 695683 w 712983"/>
                  <a:gd name="connsiteY5" fmla="*/ 224832 h 736242"/>
                  <a:gd name="connsiteX6" fmla="*/ 712983 w 712983"/>
                  <a:gd name="connsiteY6" fmla="*/ 280561 h 736242"/>
                  <a:gd name="connsiteX7" fmla="*/ 629629 w 712983"/>
                  <a:gd name="connsiteY7" fmla="*/ 368122 h 736242"/>
                  <a:gd name="connsiteX8" fmla="*/ 712982 w 712983"/>
                  <a:gd name="connsiteY8" fmla="*/ 455683 h 736242"/>
                  <a:gd name="connsiteX9" fmla="*/ 695683 w 712983"/>
                  <a:gd name="connsiteY9" fmla="*/ 511411 h 736242"/>
                  <a:gd name="connsiteX10" fmla="*/ 661743 w 712983"/>
                  <a:gd name="connsiteY10" fmla="*/ 573941 h 736242"/>
                  <a:gd name="connsiteX11" fmla="*/ 644435 w 712983"/>
                  <a:gd name="connsiteY11" fmla="*/ 594919 h 736242"/>
                  <a:gd name="connsiteX12" fmla="*/ 493060 w 712983"/>
                  <a:gd name="connsiteY12" fmla="*/ 572975 h 736242"/>
                  <a:gd name="connsiteX13" fmla="*/ 425590 w 712983"/>
                  <a:gd name="connsiteY13" fmla="*/ 729276 h 736242"/>
                  <a:gd name="connsiteX14" fmla="*/ 356491 w 712983"/>
                  <a:gd name="connsiteY14" fmla="*/ 736242 h 736242"/>
                  <a:gd name="connsiteX15" fmla="*/ 287394 w 712983"/>
                  <a:gd name="connsiteY15" fmla="*/ 729277 h 736242"/>
                  <a:gd name="connsiteX16" fmla="*/ 219923 w 712983"/>
                  <a:gd name="connsiteY16" fmla="*/ 572975 h 736242"/>
                  <a:gd name="connsiteX17" fmla="*/ 68548 w 712983"/>
                  <a:gd name="connsiteY17" fmla="*/ 594919 h 736242"/>
                  <a:gd name="connsiteX18" fmla="*/ 51239 w 712983"/>
                  <a:gd name="connsiteY18" fmla="*/ 573941 h 736242"/>
                  <a:gd name="connsiteX19" fmla="*/ 17299 w 712983"/>
                  <a:gd name="connsiteY19" fmla="*/ 511411 h 736242"/>
                  <a:gd name="connsiteX20" fmla="*/ 0 w 712983"/>
                  <a:gd name="connsiteY20" fmla="*/ 455684 h 736242"/>
                  <a:gd name="connsiteX21" fmla="*/ 83354 w 712983"/>
                  <a:gd name="connsiteY21" fmla="*/ 368122 h 736242"/>
                  <a:gd name="connsiteX22" fmla="*/ 0 w 712983"/>
                  <a:gd name="connsiteY22" fmla="*/ 280560 h 736242"/>
                  <a:gd name="connsiteX23" fmla="*/ 17299 w 712983"/>
                  <a:gd name="connsiteY23" fmla="*/ 224832 h 736242"/>
                  <a:gd name="connsiteX24" fmla="*/ 51239 w 712983"/>
                  <a:gd name="connsiteY24" fmla="*/ 162301 h 736242"/>
                  <a:gd name="connsiteX25" fmla="*/ 68547 w 712983"/>
                  <a:gd name="connsiteY25" fmla="*/ 141324 h 736242"/>
                  <a:gd name="connsiteX26" fmla="*/ 219923 w 712983"/>
                  <a:gd name="connsiteY26" fmla="*/ 163268 h 736242"/>
                  <a:gd name="connsiteX27" fmla="*/ 287394 w 712983"/>
                  <a:gd name="connsiteY27" fmla="*/ 6966 h 73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2983" h="736242">
                    <a:moveTo>
                      <a:pt x="356491" y="0"/>
                    </a:moveTo>
                    <a:lnTo>
                      <a:pt x="425590" y="6966"/>
                    </a:lnTo>
                    <a:lnTo>
                      <a:pt x="493060" y="163268"/>
                    </a:lnTo>
                    <a:lnTo>
                      <a:pt x="644436" y="141325"/>
                    </a:lnTo>
                    <a:lnTo>
                      <a:pt x="661743" y="162301"/>
                    </a:lnTo>
                    <a:cubicBezTo>
                      <a:pt x="674974" y="181885"/>
                      <a:pt x="686369" y="202811"/>
                      <a:pt x="695683" y="224832"/>
                    </a:cubicBezTo>
                    <a:lnTo>
                      <a:pt x="712983" y="280561"/>
                    </a:lnTo>
                    <a:lnTo>
                      <a:pt x="629629" y="368122"/>
                    </a:lnTo>
                    <a:lnTo>
                      <a:pt x="712982" y="455683"/>
                    </a:lnTo>
                    <a:lnTo>
                      <a:pt x="695683" y="511411"/>
                    </a:lnTo>
                    <a:cubicBezTo>
                      <a:pt x="686369" y="533431"/>
                      <a:pt x="674974" y="554357"/>
                      <a:pt x="661743" y="573941"/>
                    </a:cubicBezTo>
                    <a:lnTo>
                      <a:pt x="644435" y="594919"/>
                    </a:lnTo>
                    <a:lnTo>
                      <a:pt x="493060" y="572975"/>
                    </a:lnTo>
                    <a:lnTo>
                      <a:pt x="425590" y="729276"/>
                    </a:lnTo>
                    <a:lnTo>
                      <a:pt x="356491" y="736242"/>
                    </a:lnTo>
                    <a:lnTo>
                      <a:pt x="287394" y="729277"/>
                    </a:lnTo>
                    <a:lnTo>
                      <a:pt x="219923" y="572975"/>
                    </a:lnTo>
                    <a:lnTo>
                      <a:pt x="68548" y="594919"/>
                    </a:lnTo>
                    <a:lnTo>
                      <a:pt x="51239" y="573941"/>
                    </a:lnTo>
                    <a:cubicBezTo>
                      <a:pt x="38009" y="554357"/>
                      <a:pt x="26613" y="533431"/>
                      <a:pt x="17299" y="511411"/>
                    </a:cubicBezTo>
                    <a:lnTo>
                      <a:pt x="0" y="455684"/>
                    </a:lnTo>
                    <a:lnTo>
                      <a:pt x="83354" y="368122"/>
                    </a:lnTo>
                    <a:lnTo>
                      <a:pt x="0" y="280560"/>
                    </a:lnTo>
                    <a:lnTo>
                      <a:pt x="17299" y="224832"/>
                    </a:lnTo>
                    <a:cubicBezTo>
                      <a:pt x="26613" y="202811"/>
                      <a:pt x="38009" y="181885"/>
                      <a:pt x="51239" y="162301"/>
                    </a:cubicBezTo>
                    <a:lnTo>
                      <a:pt x="68547" y="141324"/>
                    </a:lnTo>
                    <a:lnTo>
                      <a:pt x="219923" y="163268"/>
                    </a:lnTo>
                    <a:lnTo>
                      <a:pt x="287394" y="69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8253020" y="5080725"/>
                <a:ext cx="332887" cy="33198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8885474" y="3105508"/>
            <a:ext cx="990082" cy="408936"/>
            <a:chOff x="1414643" y="3469931"/>
            <a:chExt cx="1105160" cy="408936"/>
          </a:xfrm>
        </p:grpSpPr>
        <p:grpSp>
          <p:nvGrpSpPr>
            <p:cNvPr id="26" name="Group 25"/>
            <p:cNvGrpSpPr/>
            <p:nvPr/>
          </p:nvGrpSpPr>
          <p:grpSpPr>
            <a:xfrm>
              <a:off x="1414643" y="3477720"/>
              <a:ext cx="388474" cy="401147"/>
              <a:chOff x="8072366" y="4893264"/>
              <a:chExt cx="712983" cy="736242"/>
            </a:xfrm>
          </p:grpSpPr>
          <p:sp>
            <p:nvSpPr>
              <p:cNvPr id="36" name="Freeform 35"/>
              <p:cNvSpPr/>
              <p:nvPr/>
            </p:nvSpPr>
            <p:spPr>
              <a:xfrm>
                <a:off x="8072366" y="4893264"/>
                <a:ext cx="712983" cy="736242"/>
              </a:xfrm>
              <a:custGeom>
                <a:avLst/>
                <a:gdLst>
                  <a:gd name="connsiteX0" fmla="*/ 356491 w 712983"/>
                  <a:gd name="connsiteY0" fmla="*/ 0 h 736242"/>
                  <a:gd name="connsiteX1" fmla="*/ 425590 w 712983"/>
                  <a:gd name="connsiteY1" fmla="*/ 6966 h 736242"/>
                  <a:gd name="connsiteX2" fmla="*/ 493060 w 712983"/>
                  <a:gd name="connsiteY2" fmla="*/ 163268 h 736242"/>
                  <a:gd name="connsiteX3" fmla="*/ 644436 w 712983"/>
                  <a:gd name="connsiteY3" fmla="*/ 141325 h 736242"/>
                  <a:gd name="connsiteX4" fmla="*/ 661743 w 712983"/>
                  <a:gd name="connsiteY4" fmla="*/ 162301 h 736242"/>
                  <a:gd name="connsiteX5" fmla="*/ 695683 w 712983"/>
                  <a:gd name="connsiteY5" fmla="*/ 224832 h 736242"/>
                  <a:gd name="connsiteX6" fmla="*/ 712983 w 712983"/>
                  <a:gd name="connsiteY6" fmla="*/ 280561 h 736242"/>
                  <a:gd name="connsiteX7" fmla="*/ 629629 w 712983"/>
                  <a:gd name="connsiteY7" fmla="*/ 368122 h 736242"/>
                  <a:gd name="connsiteX8" fmla="*/ 712982 w 712983"/>
                  <a:gd name="connsiteY8" fmla="*/ 455683 h 736242"/>
                  <a:gd name="connsiteX9" fmla="*/ 695683 w 712983"/>
                  <a:gd name="connsiteY9" fmla="*/ 511411 h 736242"/>
                  <a:gd name="connsiteX10" fmla="*/ 661743 w 712983"/>
                  <a:gd name="connsiteY10" fmla="*/ 573941 h 736242"/>
                  <a:gd name="connsiteX11" fmla="*/ 644435 w 712983"/>
                  <a:gd name="connsiteY11" fmla="*/ 594919 h 736242"/>
                  <a:gd name="connsiteX12" fmla="*/ 493060 w 712983"/>
                  <a:gd name="connsiteY12" fmla="*/ 572975 h 736242"/>
                  <a:gd name="connsiteX13" fmla="*/ 425590 w 712983"/>
                  <a:gd name="connsiteY13" fmla="*/ 729276 h 736242"/>
                  <a:gd name="connsiteX14" fmla="*/ 356491 w 712983"/>
                  <a:gd name="connsiteY14" fmla="*/ 736242 h 736242"/>
                  <a:gd name="connsiteX15" fmla="*/ 287394 w 712983"/>
                  <a:gd name="connsiteY15" fmla="*/ 729277 h 736242"/>
                  <a:gd name="connsiteX16" fmla="*/ 219923 w 712983"/>
                  <a:gd name="connsiteY16" fmla="*/ 572975 h 736242"/>
                  <a:gd name="connsiteX17" fmla="*/ 68548 w 712983"/>
                  <a:gd name="connsiteY17" fmla="*/ 594919 h 736242"/>
                  <a:gd name="connsiteX18" fmla="*/ 51239 w 712983"/>
                  <a:gd name="connsiteY18" fmla="*/ 573941 h 736242"/>
                  <a:gd name="connsiteX19" fmla="*/ 17299 w 712983"/>
                  <a:gd name="connsiteY19" fmla="*/ 511411 h 736242"/>
                  <a:gd name="connsiteX20" fmla="*/ 0 w 712983"/>
                  <a:gd name="connsiteY20" fmla="*/ 455684 h 736242"/>
                  <a:gd name="connsiteX21" fmla="*/ 83354 w 712983"/>
                  <a:gd name="connsiteY21" fmla="*/ 368122 h 736242"/>
                  <a:gd name="connsiteX22" fmla="*/ 0 w 712983"/>
                  <a:gd name="connsiteY22" fmla="*/ 280560 h 736242"/>
                  <a:gd name="connsiteX23" fmla="*/ 17299 w 712983"/>
                  <a:gd name="connsiteY23" fmla="*/ 224832 h 736242"/>
                  <a:gd name="connsiteX24" fmla="*/ 51239 w 712983"/>
                  <a:gd name="connsiteY24" fmla="*/ 162301 h 736242"/>
                  <a:gd name="connsiteX25" fmla="*/ 68547 w 712983"/>
                  <a:gd name="connsiteY25" fmla="*/ 141324 h 736242"/>
                  <a:gd name="connsiteX26" fmla="*/ 219923 w 712983"/>
                  <a:gd name="connsiteY26" fmla="*/ 163268 h 736242"/>
                  <a:gd name="connsiteX27" fmla="*/ 287394 w 712983"/>
                  <a:gd name="connsiteY27" fmla="*/ 6966 h 73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2983" h="736242">
                    <a:moveTo>
                      <a:pt x="356491" y="0"/>
                    </a:moveTo>
                    <a:lnTo>
                      <a:pt x="425590" y="6966"/>
                    </a:lnTo>
                    <a:lnTo>
                      <a:pt x="493060" y="163268"/>
                    </a:lnTo>
                    <a:lnTo>
                      <a:pt x="644436" y="141325"/>
                    </a:lnTo>
                    <a:lnTo>
                      <a:pt x="661743" y="162301"/>
                    </a:lnTo>
                    <a:cubicBezTo>
                      <a:pt x="674974" y="181885"/>
                      <a:pt x="686369" y="202811"/>
                      <a:pt x="695683" y="224832"/>
                    </a:cubicBezTo>
                    <a:lnTo>
                      <a:pt x="712983" y="280561"/>
                    </a:lnTo>
                    <a:lnTo>
                      <a:pt x="629629" y="368122"/>
                    </a:lnTo>
                    <a:lnTo>
                      <a:pt x="712982" y="455683"/>
                    </a:lnTo>
                    <a:lnTo>
                      <a:pt x="695683" y="511411"/>
                    </a:lnTo>
                    <a:cubicBezTo>
                      <a:pt x="686369" y="533431"/>
                      <a:pt x="674974" y="554357"/>
                      <a:pt x="661743" y="573941"/>
                    </a:cubicBezTo>
                    <a:lnTo>
                      <a:pt x="644435" y="594919"/>
                    </a:lnTo>
                    <a:lnTo>
                      <a:pt x="493060" y="572975"/>
                    </a:lnTo>
                    <a:lnTo>
                      <a:pt x="425590" y="729276"/>
                    </a:lnTo>
                    <a:lnTo>
                      <a:pt x="356491" y="736242"/>
                    </a:lnTo>
                    <a:lnTo>
                      <a:pt x="287394" y="729277"/>
                    </a:lnTo>
                    <a:lnTo>
                      <a:pt x="219923" y="572975"/>
                    </a:lnTo>
                    <a:lnTo>
                      <a:pt x="68548" y="594919"/>
                    </a:lnTo>
                    <a:lnTo>
                      <a:pt x="51239" y="573941"/>
                    </a:lnTo>
                    <a:cubicBezTo>
                      <a:pt x="38009" y="554357"/>
                      <a:pt x="26613" y="533431"/>
                      <a:pt x="17299" y="511411"/>
                    </a:cubicBezTo>
                    <a:lnTo>
                      <a:pt x="0" y="455684"/>
                    </a:lnTo>
                    <a:lnTo>
                      <a:pt x="83354" y="368122"/>
                    </a:lnTo>
                    <a:lnTo>
                      <a:pt x="0" y="280560"/>
                    </a:lnTo>
                    <a:lnTo>
                      <a:pt x="17299" y="224832"/>
                    </a:lnTo>
                    <a:cubicBezTo>
                      <a:pt x="26613" y="202811"/>
                      <a:pt x="38009" y="181885"/>
                      <a:pt x="51239" y="162301"/>
                    </a:cubicBezTo>
                    <a:lnTo>
                      <a:pt x="68547" y="141324"/>
                    </a:lnTo>
                    <a:lnTo>
                      <a:pt x="219923" y="163268"/>
                    </a:lnTo>
                    <a:lnTo>
                      <a:pt x="287394" y="69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8253020" y="5080725"/>
                <a:ext cx="332887" cy="33198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131329" y="3469931"/>
              <a:ext cx="388474" cy="401147"/>
              <a:chOff x="8072366" y="4893264"/>
              <a:chExt cx="712983" cy="736242"/>
            </a:xfrm>
          </p:grpSpPr>
          <p:sp>
            <p:nvSpPr>
              <p:cNvPr id="34" name="Freeform 33"/>
              <p:cNvSpPr/>
              <p:nvPr/>
            </p:nvSpPr>
            <p:spPr>
              <a:xfrm>
                <a:off x="8072366" y="4893264"/>
                <a:ext cx="712983" cy="736242"/>
              </a:xfrm>
              <a:custGeom>
                <a:avLst/>
                <a:gdLst>
                  <a:gd name="connsiteX0" fmla="*/ 356491 w 712983"/>
                  <a:gd name="connsiteY0" fmla="*/ 0 h 736242"/>
                  <a:gd name="connsiteX1" fmla="*/ 425590 w 712983"/>
                  <a:gd name="connsiteY1" fmla="*/ 6966 h 736242"/>
                  <a:gd name="connsiteX2" fmla="*/ 493060 w 712983"/>
                  <a:gd name="connsiteY2" fmla="*/ 163268 h 736242"/>
                  <a:gd name="connsiteX3" fmla="*/ 644436 w 712983"/>
                  <a:gd name="connsiteY3" fmla="*/ 141325 h 736242"/>
                  <a:gd name="connsiteX4" fmla="*/ 661743 w 712983"/>
                  <a:gd name="connsiteY4" fmla="*/ 162301 h 736242"/>
                  <a:gd name="connsiteX5" fmla="*/ 695683 w 712983"/>
                  <a:gd name="connsiteY5" fmla="*/ 224832 h 736242"/>
                  <a:gd name="connsiteX6" fmla="*/ 712983 w 712983"/>
                  <a:gd name="connsiteY6" fmla="*/ 280561 h 736242"/>
                  <a:gd name="connsiteX7" fmla="*/ 629629 w 712983"/>
                  <a:gd name="connsiteY7" fmla="*/ 368122 h 736242"/>
                  <a:gd name="connsiteX8" fmla="*/ 712982 w 712983"/>
                  <a:gd name="connsiteY8" fmla="*/ 455683 h 736242"/>
                  <a:gd name="connsiteX9" fmla="*/ 695683 w 712983"/>
                  <a:gd name="connsiteY9" fmla="*/ 511411 h 736242"/>
                  <a:gd name="connsiteX10" fmla="*/ 661743 w 712983"/>
                  <a:gd name="connsiteY10" fmla="*/ 573941 h 736242"/>
                  <a:gd name="connsiteX11" fmla="*/ 644435 w 712983"/>
                  <a:gd name="connsiteY11" fmla="*/ 594919 h 736242"/>
                  <a:gd name="connsiteX12" fmla="*/ 493060 w 712983"/>
                  <a:gd name="connsiteY12" fmla="*/ 572975 h 736242"/>
                  <a:gd name="connsiteX13" fmla="*/ 425590 w 712983"/>
                  <a:gd name="connsiteY13" fmla="*/ 729276 h 736242"/>
                  <a:gd name="connsiteX14" fmla="*/ 356491 w 712983"/>
                  <a:gd name="connsiteY14" fmla="*/ 736242 h 736242"/>
                  <a:gd name="connsiteX15" fmla="*/ 287394 w 712983"/>
                  <a:gd name="connsiteY15" fmla="*/ 729277 h 736242"/>
                  <a:gd name="connsiteX16" fmla="*/ 219923 w 712983"/>
                  <a:gd name="connsiteY16" fmla="*/ 572975 h 736242"/>
                  <a:gd name="connsiteX17" fmla="*/ 68548 w 712983"/>
                  <a:gd name="connsiteY17" fmla="*/ 594919 h 736242"/>
                  <a:gd name="connsiteX18" fmla="*/ 51239 w 712983"/>
                  <a:gd name="connsiteY18" fmla="*/ 573941 h 736242"/>
                  <a:gd name="connsiteX19" fmla="*/ 17299 w 712983"/>
                  <a:gd name="connsiteY19" fmla="*/ 511411 h 736242"/>
                  <a:gd name="connsiteX20" fmla="*/ 0 w 712983"/>
                  <a:gd name="connsiteY20" fmla="*/ 455684 h 736242"/>
                  <a:gd name="connsiteX21" fmla="*/ 83354 w 712983"/>
                  <a:gd name="connsiteY21" fmla="*/ 368122 h 736242"/>
                  <a:gd name="connsiteX22" fmla="*/ 0 w 712983"/>
                  <a:gd name="connsiteY22" fmla="*/ 280560 h 736242"/>
                  <a:gd name="connsiteX23" fmla="*/ 17299 w 712983"/>
                  <a:gd name="connsiteY23" fmla="*/ 224832 h 736242"/>
                  <a:gd name="connsiteX24" fmla="*/ 51239 w 712983"/>
                  <a:gd name="connsiteY24" fmla="*/ 162301 h 736242"/>
                  <a:gd name="connsiteX25" fmla="*/ 68547 w 712983"/>
                  <a:gd name="connsiteY25" fmla="*/ 141324 h 736242"/>
                  <a:gd name="connsiteX26" fmla="*/ 219923 w 712983"/>
                  <a:gd name="connsiteY26" fmla="*/ 163268 h 736242"/>
                  <a:gd name="connsiteX27" fmla="*/ 287394 w 712983"/>
                  <a:gd name="connsiteY27" fmla="*/ 6966 h 73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2983" h="736242">
                    <a:moveTo>
                      <a:pt x="356491" y="0"/>
                    </a:moveTo>
                    <a:lnTo>
                      <a:pt x="425590" y="6966"/>
                    </a:lnTo>
                    <a:lnTo>
                      <a:pt x="493060" y="163268"/>
                    </a:lnTo>
                    <a:lnTo>
                      <a:pt x="644436" y="141325"/>
                    </a:lnTo>
                    <a:lnTo>
                      <a:pt x="661743" y="162301"/>
                    </a:lnTo>
                    <a:cubicBezTo>
                      <a:pt x="674974" y="181885"/>
                      <a:pt x="686369" y="202811"/>
                      <a:pt x="695683" y="224832"/>
                    </a:cubicBezTo>
                    <a:lnTo>
                      <a:pt x="712983" y="280561"/>
                    </a:lnTo>
                    <a:lnTo>
                      <a:pt x="629629" y="368122"/>
                    </a:lnTo>
                    <a:lnTo>
                      <a:pt x="712982" y="455683"/>
                    </a:lnTo>
                    <a:lnTo>
                      <a:pt x="695683" y="511411"/>
                    </a:lnTo>
                    <a:cubicBezTo>
                      <a:pt x="686369" y="533431"/>
                      <a:pt x="674974" y="554357"/>
                      <a:pt x="661743" y="573941"/>
                    </a:cubicBezTo>
                    <a:lnTo>
                      <a:pt x="644435" y="594919"/>
                    </a:lnTo>
                    <a:lnTo>
                      <a:pt x="493060" y="572975"/>
                    </a:lnTo>
                    <a:lnTo>
                      <a:pt x="425590" y="729276"/>
                    </a:lnTo>
                    <a:lnTo>
                      <a:pt x="356491" y="736242"/>
                    </a:lnTo>
                    <a:lnTo>
                      <a:pt x="287394" y="729277"/>
                    </a:lnTo>
                    <a:lnTo>
                      <a:pt x="219923" y="572975"/>
                    </a:lnTo>
                    <a:lnTo>
                      <a:pt x="68548" y="594919"/>
                    </a:lnTo>
                    <a:lnTo>
                      <a:pt x="51239" y="573941"/>
                    </a:lnTo>
                    <a:cubicBezTo>
                      <a:pt x="38009" y="554357"/>
                      <a:pt x="26613" y="533431"/>
                      <a:pt x="17299" y="511411"/>
                    </a:cubicBezTo>
                    <a:lnTo>
                      <a:pt x="0" y="455684"/>
                    </a:lnTo>
                    <a:lnTo>
                      <a:pt x="83354" y="368122"/>
                    </a:lnTo>
                    <a:lnTo>
                      <a:pt x="0" y="280560"/>
                    </a:lnTo>
                    <a:lnTo>
                      <a:pt x="17299" y="224832"/>
                    </a:lnTo>
                    <a:cubicBezTo>
                      <a:pt x="26613" y="202811"/>
                      <a:pt x="38009" y="181885"/>
                      <a:pt x="51239" y="162301"/>
                    </a:cubicBezTo>
                    <a:lnTo>
                      <a:pt x="68547" y="141324"/>
                    </a:lnTo>
                    <a:lnTo>
                      <a:pt x="219923" y="163268"/>
                    </a:lnTo>
                    <a:lnTo>
                      <a:pt x="287394" y="6966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8253020" y="5080725"/>
                <a:ext cx="332887" cy="33198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7" name="Freeform 46"/>
          <p:cNvSpPr/>
          <p:nvPr/>
        </p:nvSpPr>
        <p:spPr>
          <a:xfrm>
            <a:off x="1746838" y="3153028"/>
            <a:ext cx="348023" cy="401147"/>
          </a:xfrm>
          <a:custGeom>
            <a:avLst/>
            <a:gdLst>
              <a:gd name="connsiteX0" fmla="*/ 356491 w 712983"/>
              <a:gd name="connsiteY0" fmla="*/ 0 h 736242"/>
              <a:gd name="connsiteX1" fmla="*/ 425590 w 712983"/>
              <a:gd name="connsiteY1" fmla="*/ 6966 h 736242"/>
              <a:gd name="connsiteX2" fmla="*/ 493060 w 712983"/>
              <a:gd name="connsiteY2" fmla="*/ 163268 h 736242"/>
              <a:gd name="connsiteX3" fmla="*/ 644436 w 712983"/>
              <a:gd name="connsiteY3" fmla="*/ 141325 h 736242"/>
              <a:gd name="connsiteX4" fmla="*/ 661743 w 712983"/>
              <a:gd name="connsiteY4" fmla="*/ 162301 h 736242"/>
              <a:gd name="connsiteX5" fmla="*/ 695683 w 712983"/>
              <a:gd name="connsiteY5" fmla="*/ 224832 h 736242"/>
              <a:gd name="connsiteX6" fmla="*/ 712983 w 712983"/>
              <a:gd name="connsiteY6" fmla="*/ 280561 h 736242"/>
              <a:gd name="connsiteX7" fmla="*/ 629629 w 712983"/>
              <a:gd name="connsiteY7" fmla="*/ 368122 h 736242"/>
              <a:gd name="connsiteX8" fmla="*/ 712982 w 712983"/>
              <a:gd name="connsiteY8" fmla="*/ 455683 h 736242"/>
              <a:gd name="connsiteX9" fmla="*/ 695683 w 712983"/>
              <a:gd name="connsiteY9" fmla="*/ 511411 h 736242"/>
              <a:gd name="connsiteX10" fmla="*/ 661743 w 712983"/>
              <a:gd name="connsiteY10" fmla="*/ 573941 h 736242"/>
              <a:gd name="connsiteX11" fmla="*/ 644435 w 712983"/>
              <a:gd name="connsiteY11" fmla="*/ 594919 h 736242"/>
              <a:gd name="connsiteX12" fmla="*/ 493060 w 712983"/>
              <a:gd name="connsiteY12" fmla="*/ 572975 h 736242"/>
              <a:gd name="connsiteX13" fmla="*/ 425590 w 712983"/>
              <a:gd name="connsiteY13" fmla="*/ 729276 h 736242"/>
              <a:gd name="connsiteX14" fmla="*/ 356491 w 712983"/>
              <a:gd name="connsiteY14" fmla="*/ 736242 h 736242"/>
              <a:gd name="connsiteX15" fmla="*/ 287394 w 712983"/>
              <a:gd name="connsiteY15" fmla="*/ 729277 h 736242"/>
              <a:gd name="connsiteX16" fmla="*/ 219923 w 712983"/>
              <a:gd name="connsiteY16" fmla="*/ 572975 h 736242"/>
              <a:gd name="connsiteX17" fmla="*/ 68548 w 712983"/>
              <a:gd name="connsiteY17" fmla="*/ 594919 h 736242"/>
              <a:gd name="connsiteX18" fmla="*/ 51239 w 712983"/>
              <a:gd name="connsiteY18" fmla="*/ 573941 h 736242"/>
              <a:gd name="connsiteX19" fmla="*/ 17299 w 712983"/>
              <a:gd name="connsiteY19" fmla="*/ 511411 h 736242"/>
              <a:gd name="connsiteX20" fmla="*/ 0 w 712983"/>
              <a:gd name="connsiteY20" fmla="*/ 455684 h 736242"/>
              <a:gd name="connsiteX21" fmla="*/ 83354 w 712983"/>
              <a:gd name="connsiteY21" fmla="*/ 368122 h 736242"/>
              <a:gd name="connsiteX22" fmla="*/ 0 w 712983"/>
              <a:gd name="connsiteY22" fmla="*/ 280560 h 736242"/>
              <a:gd name="connsiteX23" fmla="*/ 17299 w 712983"/>
              <a:gd name="connsiteY23" fmla="*/ 224832 h 736242"/>
              <a:gd name="connsiteX24" fmla="*/ 51239 w 712983"/>
              <a:gd name="connsiteY24" fmla="*/ 162301 h 736242"/>
              <a:gd name="connsiteX25" fmla="*/ 68547 w 712983"/>
              <a:gd name="connsiteY25" fmla="*/ 141324 h 736242"/>
              <a:gd name="connsiteX26" fmla="*/ 219923 w 712983"/>
              <a:gd name="connsiteY26" fmla="*/ 163268 h 736242"/>
              <a:gd name="connsiteX27" fmla="*/ 287394 w 712983"/>
              <a:gd name="connsiteY27" fmla="*/ 6966 h 73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12983" h="736242">
                <a:moveTo>
                  <a:pt x="356491" y="0"/>
                </a:moveTo>
                <a:lnTo>
                  <a:pt x="425590" y="6966"/>
                </a:lnTo>
                <a:lnTo>
                  <a:pt x="493060" y="163268"/>
                </a:lnTo>
                <a:lnTo>
                  <a:pt x="644436" y="141325"/>
                </a:lnTo>
                <a:lnTo>
                  <a:pt x="661743" y="162301"/>
                </a:lnTo>
                <a:cubicBezTo>
                  <a:pt x="674974" y="181885"/>
                  <a:pt x="686369" y="202811"/>
                  <a:pt x="695683" y="224832"/>
                </a:cubicBezTo>
                <a:lnTo>
                  <a:pt x="712983" y="280561"/>
                </a:lnTo>
                <a:lnTo>
                  <a:pt x="629629" y="368122"/>
                </a:lnTo>
                <a:lnTo>
                  <a:pt x="712982" y="455683"/>
                </a:lnTo>
                <a:lnTo>
                  <a:pt x="695683" y="511411"/>
                </a:lnTo>
                <a:cubicBezTo>
                  <a:pt x="686369" y="533431"/>
                  <a:pt x="674974" y="554357"/>
                  <a:pt x="661743" y="573941"/>
                </a:cubicBezTo>
                <a:lnTo>
                  <a:pt x="644435" y="594919"/>
                </a:lnTo>
                <a:lnTo>
                  <a:pt x="493060" y="572975"/>
                </a:lnTo>
                <a:lnTo>
                  <a:pt x="425590" y="729276"/>
                </a:lnTo>
                <a:lnTo>
                  <a:pt x="356491" y="736242"/>
                </a:lnTo>
                <a:lnTo>
                  <a:pt x="287394" y="729277"/>
                </a:lnTo>
                <a:lnTo>
                  <a:pt x="219923" y="572975"/>
                </a:lnTo>
                <a:lnTo>
                  <a:pt x="68548" y="594919"/>
                </a:lnTo>
                <a:lnTo>
                  <a:pt x="51239" y="573941"/>
                </a:lnTo>
                <a:cubicBezTo>
                  <a:pt x="38009" y="554357"/>
                  <a:pt x="26613" y="533431"/>
                  <a:pt x="17299" y="511411"/>
                </a:cubicBezTo>
                <a:lnTo>
                  <a:pt x="0" y="455684"/>
                </a:lnTo>
                <a:lnTo>
                  <a:pt x="83354" y="368122"/>
                </a:lnTo>
                <a:lnTo>
                  <a:pt x="0" y="280560"/>
                </a:lnTo>
                <a:lnTo>
                  <a:pt x="17299" y="224832"/>
                </a:lnTo>
                <a:cubicBezTo>
                  <a:pt x="26613" y="202811"/>
                  <a:pt x="38009" y="181885"/>
                  <a:pt x="51239" y="162301"/>
                </a:cubicBezTo>
                <a:lnTo>
                  <a:pt x="68547" y="141324"/>
                </a:lnTo>
                <a:lnTo>
                  <a:pt x="219923" y="163268"/>
                </a:lnTo>
                <a:lnTo>
                  <a:pt x="287394" y="696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/>
          <p:cNvSpPr/>
          <p:nvPr/>
        </p:nvSpPr>
        <p:spPr>
          <a:xfrm>
            <a:off x="2463524" y="3145239"/>
            <a:ext cx="348023" cy="401147"/>
          </a:xfrm>
          <a:custGeom>
            <a:avLst/>
            <a:gdLst>
              <a:gd name="connsiteX0" fmla="*/ 356491 w 712983"/>
              <a:gd name="connsiteY0" fmla="*/ 0 h 736242"/>
              <a:gd name="connsiteX1" fmla="*/ 425590 w 712983"/>
              <a:gd name="connsiteY1" fmla="*/ 6966 h 736242"/>
              <a:gd name="connsiteX2" fmla="*/ 493060 w 712983"/>
              <a:gd name="connsiteY2" fmla="*/ 163268 h 736242"/>
              <a:gd name="connsiteX3" fmla="*/ 644436 w 712983"/>
              <a:gd name="connsiteY3" fmla="*/ 141325 h 736242"/>
              <a:gd name="connsiteX4" fmla="*/ 661743 w 712983"/>
              <a:gd name="connsiteY4" fmla="*/ 162301 h 736242"/>
              <a:gd name="connsiteX5" fmla="*/ 695683 w 712983"/>
              <a:gd name="connsiteY5" fmla="*/ 224832 h 736242"/>
              <a:gd name="connsiteX6" fmla="*/ 712983 w 712983"/>
              <a:gd name="connsiteY6" fmla="*/ 280561 h 736242"/>
              <a:gd name="connsiteX7" fmla="*/ 629629 w 712983"/>
              <a:gd name="connsiteY7" fmla="*/ 368122 h 736242"/>
              <a:gd name="connsiteX8" fmla="*/ 712982 w 712983"/>
              <a:gd name="connsiteY8" fmla="*/ 455683 h 736242"/>
              <a:gd name="connsiteX9" fmla="*/ 695683 w 712983"/>
              <a:gd name="connsiteY9" fmla="*/ 511411 h 736242"/>
              <a:gd name="connsiteX10" fmla="*/ 661743 w 712983"/>
              <a:gd name="connsiteY10" fmla="*/ 573941 h 736242"/>
              <a:gd name="connsiteX11" fmla="*/ 644435 w 712983"/>
              <a:gd name="connsiteY11" fmla="*/ 594919 h 736242"/>
              <a:gd name="connsiteX12" fmla="*/ 493060 w 712983"/>
              <a:gd name="connsiteY12" fmla="*/ 572975 h 736242"/>
              <a:gd name="connsiteX13" fmla="*/ 425590 w 712983"/>
              <a:gd name="connsiteY13" fmla="*/ 729276 h 736242"/>
              <a:gd name="connsiteX14" fmla="*/ 356491 w 712983"/>
              <a:gd name="connsiteY14" fmla="*/ 736242 h 736242"/>
              <a:gd name="connsiteX15" fmla="*/ 287394 w 712983"/>
              <a:gd name="connsiteY15" fmla="*/ 729277 h 736242"/>
              <a:gd name="connsiteX16" fmla="*/ 219923 w 712983"/>
              <a:gd name="connsiteY16" fmla="*/ 572975 h 736242"/>
              <a:gd name="connsiteX17" fmla="*/ 68548 w 712983"/>
              <a:gd name="connsiteY17" fmla="*/ 594919 h 736242"/>
              <a:gd name="connsiteX18" fmla="*/ 51239 w 712983"/>
              <a:gd name="connsiteY18" fmla="*/ 573941 h 736242"/>
              <a:gd name="connsiteX19" fmla="*/ 17299 w 712983"/>
              <a:gd name="connsiteY19" fmla="*/ 511411 h 736242"/>
              <a:gd name="connsiteX20" fmla="*/ 0 w 712983"/>
              <a:gd name="connsiteY20" fmla="*/ 455684 h 736242"/>
              <a:gd name="connsiteX21" fmla="*/ 83354 w 712983"/>
              <a:gd name="connsiteY21" fmla="*/ 368122 h 736242"/>
              <a:gd name="connsiteX22" fmla="*/ 0 w 712983"/>
              <a:gd name="connsiteY22" fmla="*/ 280560 h 736242"/>
              <a:gd name="connsiteX23" fmla="*/ 17299 w 712983"/>
              <a:gd name="connsiteY23" fmla="*/ 224832 h 736242"/>
              <a:gd name="connsiteX24" fmla="*/ 51239 w 712983"/>
              <a:gd name="connsiteY24" fmla="*/ 162301 h 736242"/>
              <a:gd name="connsiteX25" fmla="*/ 68547 w 712983"/>
              <a:gd name="connsiteY25" fmla="*/ 141324 h 736242"/>
              <a:gd name="connsiteX26" fmla="*/ 219923 w 712983"/>
              <a:gd name="connsiteY26" fmla="*/ 163268 h 736242"/>
              <a:gd name="connsiteX27" fmla="*/ 287394 w 712983"/>
              <a:gd name="connsiteY27" fmla="*/ 6966 h 73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12983" h="736242">
                <a:moveTo>
                  <a:pt x="356491" y="0"/>
                </a:moveTo>
                <a:lnTo>
                  <a:pt x="425590" y="6966"/>
                </a:lnTo>
                <a:lnTo>
                  <a:pt x="493060" y="163268"/>
                </a:lnTo>
                <a:lnTo>
                  <a:pt x="644436" y="141325"/>
                </a:lnTo>
                <a:lnTo>
                  <a:pt x="661743" y="162301"/>
                </a:lnTo>
                <a:cubicBezTo>
                  <a:pt x="674974" y="181885"/>
                  <a:pt x="686369" y="202811"/>
                  <a:pt x="695683" y="224832"/>
                </a:cubicBezTo>
                <a:lnTo>
                  <a:pt x="712983" y="280561"/>
                </a:lnTo>
                <a:lnTo>
                  <a:pt x="629629" y="368122"/>
                </a:lnTo>
                <a:lnTo>
                  <a:pt x="712982" y="455683"/>
                </a:lnTo>
                <a:lnTo>
                  <a:pt x="695683" y="511411"/>
                </a:lnTo>
                <a:cubicBezTo>
                  <a:pt x="686369" y="533431"/>
                  <a:pt x="674974" y="554357"/>
                  <a:pt x="661743" y="573941"/>
                </a:cubicBezTo>
                <a:lnTo>
                  <a:pt x="644435" y="594919"/>
                </a:lnTo>
                <a:lnTo>
                  <a:pt x="493060" y="572975"/>
                </a:lnTo>
                <a:lnTo>
                  <a:pt x="425590" y="729276"/>
                </a:lnTo>
                <a:lnTo>
                  <a:pt x="356491" y="736242"/>
                </a:lnTo>
                <a:lnTo>
                  <a:pt x="287394" y="729277"/>
                </a:lnTo>
                <a:lnTo>
                  <a:pt x="219923" y="572975"/>
                </a:lnTo>
                <a:lnTo>
                  <a:pt x="68548" y="594919"/>
                </a:lnTo>
                <a:lnTo>
                  <a:pt x="51239" y="573941"/>
                </a:lnTo>
                <a:cubicBezTo>
                  <a:pt x="38009" y="554357"/>
                  <a:pt x="26613" y="533431"/>
                  <a:pt x="17299" y="511411"/>
                </a:cubicBezTo>
                <a:lnTo>
                  <a:pt x="0" y="455684"/>
                </a:lnTo>
                <a:lnTo>
                  <a:pt x="83354" y="368122"/>
                </a:lnTo>
                <a:lnTo>
                  <a:pt x="0" y="280560"/>
                </a:lnTo>
                <a:lnTo>
                  <a:pt x="17299" y="224832"/>
                </a:lnTo>
                <a:cubicBezTo>
                  <a:pt x="26613" y="202811"/>
                  <a:pt x="38009" y="181885"/>
                  <a:pt x="51239" y="162301"/>
                </a:cubicBezTo>
                <a:lnTo>
                  <a:pt x="68547" y="141324"/>
                </a:lnTo>
                <a:lnTo>
                  <a:pt x="219923" y="163268"/>
                </a:lnTo>
                <a:lnTo>
                  <a:pt x="287394" y="696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2561955" y="3247379"/>
            <a:ext cx="162490" cy="18088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843758" y="3273136"/>
            <a:ext cx="162490" cy="18088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18" b="20950"/>
          <a:stretch/>
        </p:blipFill>
        <p:spPr>
          <a:xfrm>
            <a:off x="1205853" y="2026107"/>
            <a:ext cx="1109033" cy="1021328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6" t="8556" r="3537" b="14723"/>
          <a:stretch/>
        </p:blipFill>
        <p:spPr>
          <a:xfrm>
            <a:off x="1357483" y="2086872"/>
            <a:ext cx="475738" cy="399385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3152508" y="3110958"/>
            <a:ext cx="1749166" cy="4121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3529102" y="2225147"/>
            <a:ext cx="875027" cy="805828"/>
            <a:chOff x="3915273" y="1247632"/>
            <a:chExt cx="1109033" cy="1021328"/>
          </a:xfrm>
        </p:grpSpPr>
        <p:pic>
          <p:nvPicPr>
            <p:cNvPr id="62" name="Picture 61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118" b="20950"/>
            <a:stretch/>
          </p:blipFill>
          <p:spPr>
            <a:xfrm>
              <a:off x="3915273" y="1247632"/>
              <a:ext cx="1109033" cy="1021328"/>
            </a:xfrm>
            <a:prstGeom prst="rect">
              <a:avLst/>
            </a:prstGeom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6" t="8556" r="3537" b="14723"/>
            <a:stretch/>
          </p:blipFill>
          <p:spPr>
            <a:xfrm>
              <a:off x="4231920" y="1490061"/>
              <a:ext cx="475738" cy="39938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35" y="2284478"/>
            <a:ext cx="721070" cy="791478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356" y="2337456"/>
            <a:ext cx="1566651" cy="21806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0" t="11154" r="12653" b="11439"/>
          <a:stretch/>
        </p:blipFill>
        <p:spPr>
          <a:xfrm>
            <a:off x="7925702" y="2445589"/>
            <a:ext cx="842606" cy="584389"/>
          </a:xfrm>
          <a:prstGeom prst="rect">
            <a:avLst/>
          </a:prstGeom>
        </p:spPr>
      </p:pic>
      <p:pic>
        <p:nvPicPr>
          <p:cNvPr id="93" name="Picture 9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0" t="11154" r="12653" b="11439"/>
          <a:stretch/>
        </p:blipFill>
        <p:spPr>
          <a:xfrm>
            <a:off x="9156880" y="2445589"/>
            <a:ext cx="907577" cy="6294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302372">
            <a:off x="10196279" y="2354973"/>
            <a:ext cx="1504950" cy="1962150"/>
          </a:xfrm>
          <a:prstGeom prst="rect">
            <a:avLst/>
          </a:prstGeom>
        </p:spPr>
      </p:pic>
      <p:pic>
        <p:nvPicPr>
          <p:cNvPr id="94" name="Picture 2" descr="https://o.remove.bg/downloads/86b6238f-c794-46a6-ada4-f6431caacad8/DALL_E_2023-05-18_16.28.41_-_a_factory_person_carrying_bulbs_in_trolley_animated-removebg-preview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1" r="60146"/>
          <a:stretch/>
        </p:blipFill>
        <p:spPr bwMode="auto">
          <a:xfrm flipH="1">
            <a:off x="11411182" y="1940645"/>
            <a:ext cx="1187887" cy="240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Box 95"/>
          <p:cNvSpPr txBox="1"/>
          <p:nvPr/>
        </p:nvSpPr>
        <p:spPr>
          <a:xfrm>
            <a:off x="1089503" y="459494"/>
            <a:ext cx="1634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Mono boxes are packed in Carton box</a:t>
            </a:r>
            <a:endParaRPr lang="en-US" dirty="0"/>
          </a:p>
        </p:txBody>
      </p:sp>
      <p:cxnSp>
        <p:nvCxnSpPr>
          <p:cNvPr id="97" name="Straight Arrow Connector 96"/>
          <p:cNvCxnSpPr/>
          <p:nvPr/>
        </p:nvCxnSpPr>
        <p:spPr>
          <a:xfrm>
            <a:off x="1723381" y="1382824"/>
            <a:ext cx="0" cy="8332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007131" y="667445"/>
            <a:ext cx="1977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Capturing and validating </a:t>
            </a:r>
            <a:r>
              <a:rPr lang="en-US" dirty="0"/>
              <a:t>weight </a:t>
            </a:r>
            <a:r>
              <a:rPr lang="en-US" dirty="0" smtClean="0"/>
              <a:t>of Carton </a:t>
            </a:r>
            <a:r>
              <a:rPr lang="en-US" dirty="0"/>
              <a:t>box</a:t>
            </a:r>
          </a:p>
          <a:p>
            <a:endParaRPr lang="en-US" dirty="0"/>
          </a:p>
        </p:txBody>
      </p:sp>
      <p:cxnSp>
        <p:nvCxnSpPr>
          <p:cNvPr id="99" name="Straight Arrow Connector 98"/>
          <p:cNvCxnSpPr/>
          <p:nvPr/>
        </p:nvCxnSpPr>
        <p:spPr>
          <a:xfrm>
            <a:off x="3421610" y="1592278"/>
            <a:ext cx="0" cy="16364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H="1" flipV="1">
            <a:off x="4537874" y="4113881"/>
            <a:ext cx="604635" cy="5034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091240" y="4478987"/>
            <a:ext cx="26200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Rejected boxes,</a:t>
            </a:r>
            <a:br>
              <a:rPr lang="en-US" dirty="0" smtClean="0"/>
            </a:br>
            <a:r>
              <a:rPr lang="en-US" dirty="0" smtClean="0"/>
              <a:t>Carton weight less than tolerance</a:t>
            </a:r>
            <a:br>
              <a:rPr lang="en-US" dirty="0" smtClean="0"/>
            </a:br>
            <a:r>
              <a:rPr lang="en-US" i="1" dirty="0" smtClean="0">
                <a:solidFill>
                  <a:srgbClr val="FF0000"/>
                </a:solidFill>
              </a:rPr>
              <a:t>*Item manually rechecked and repacked</a:t>
            </a: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6217478" y="630762"/>
            <a:ext cx="1835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Shipper label Pasting machine on Carton boxes</a:t>
            </a:r>
            <a:endParaRPr lang="en-US" dirty="0"/>
          </a:p>
        </p:txBody>
      </p:sp>
      <p:cxnSp>
        <p:nvCxnSpPr>
          <p:cNvPr id="106" name="Straight Arrow Connector 105"/>
          <p:cNvCxnSpPr/>
          <p:nvPr/>
        </p:nvCxnSpPr>
        <p:spPr>
          <a:xfrm>
            <a:off x="6658381" y="1591321"/>
            <a:ext cx="1" cy="7852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3230386" y="3106218"/>
            <a:ext cx="368107" cy="36810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3472069" y="3131591"/>
            <a:ext cx="342734" cy="3427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3690650" y="3106217"/>
            <a:ext cx="391407" cy="39140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3919743" y="3115949"/>
            <a:ext cx="394265" cy="39426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 flipV="1">
            <a:off x="4142679" y="3122179"/>
            <a:ext cx="389704" cy="38970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V="1">
            <a:off x="4381788" y="3101484"/>
            <a:ext cx="403534" cy="403534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4553473" y="3231135"/>
            <a:ext cx="340126" cy="30920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V="1">
            <a:off x="3131593" y="3117279"/>
            <a:ext cx="181750" cy="1817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7920305" y="855638"/>
            <a:ext cx="19303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Carton boxes with </a:t>
            </a:r>
            <a:br>
              <a:rPr lang="en-US" dirty="0" smtClean="0"/>
            </a:br>
            <a:r>
              <a:rPr lang="en-US" dirty="0" smtClean="0"/>
              <a:t>shipper address</a:t>
            </a:r>
            <a:endParaRPr lang="en-US" dirty="0"/>
          </a:p>
        </p:txBody>
      </p:sp>
      <p:cxnSp>
        <p:nvCxnSpPr>
          <p:cNvPr id="126" name="Straight Arrow Connector 125"/>
          <p:cNvCxnSpPr/>
          <p:nvPr/>
        </p:nvCxnSpPr>
        <p:spPr>
          <a:xfrm>
            <a:off x="8370126" y="1489104"/>
            <a:ext cx="0" cy="97544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flipH="1">
            <a:off x="9831510" y="1489104"/>
            <a:ext cx="401062" cy="10476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9851330" y="632291"/>
            <a:ext cx="19044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Carton ready for QC testing and for dispatch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3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hipping Label Stock Illustrations – 39,677 Shipping Label Stock  Illustrations, Vectors &amp; Clipart - Dreamsti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10667" r="15375" b="11047"/>
          <a:stretch/>
        </p:blipFill>
        <p:spPr bwMode="auto">
          <a:xfrm>
            <a:off x="4847770" y="1262744"/>
            <a:ext cx="2728687" cy="321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890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DD6195E-CA80-E222-ACAD-C71E92262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37" t="45823" r="67949" b="30079"/>
          <a:stretch/>
        </p:blipFill>
        <p:spPr>
          <a:xfrm>
            <a:off x="3670479" y="2266681"/>
            <a:ext cx="1210614" cy="14553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5A3656C-59F7-1F60-3AB0-EF1C5C96D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263" b="89474" l="8824" r="88235">
                        <a14:foregroundMark x1="47059" y1="5263" x2="47059" y2="5263"/>
                        <a14:foregroundMark x1="32353" y1="56140" x2="32353" y2="56140"/>
                        <a14:foregroundMark x1="44118" y1="68421" x2="44118" y2="684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359190">
            <a:off x="730447" y="4388240"/>
            <a:ext cx="272696" cy="4571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87163" y="1556878"/>
            <a:ext cx="206062" cy="2743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787166" y="1533311"/>
            <a:ext cx="2112130" cy="21821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00" t="12076" r="18184" b="19732"/>
          <a:stretch/>
        </p:blipFill>
        <p:spPr>
          <a:xfrm flipH="1">
            <a:off x="7566824" y="1458142"/>
            <a:ext cx="748017" cy="5610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 rot="16200000">
            <a:off x="8551166" y="1669001"/>
            <a:ext cx="485843" cy="21446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7863154" y="1906796"/>
            <a:ext cx="301125" cy="16484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8686856" y="4878830"/>
            <a:ext cx="712983" cy="736242"/>
            <a:chOff x="8072366" y="4893264"/>
            <a:chExt cx="712983" cy="736242"/>
          </a:xfrm>
        </p:grpSpPr>
        <p:sp>
          <p:nvSpPr>
            <p:cNvPr id="17" name="Freeform 16"/>
            <p:cNvSpPr/>
            <p:nvPr/>
          </p:nvSpPr>
          <p:spPr>
            <a:xfrm>
              <a:off x="8072366" y="4893264"/>
              <a:ext cx="712983" cy="736242"/>
            </a:xfrm>
            <a:custGeom>
              <a:avLst/>
              <a:gdLst>
                <a:gd name="connsiteX0" fmla="*/ 356491 w 712983"/>
                <a:gd name="connsiteY0" fmla="*/ 0 h 736242"/>
                <a:gd name="connsiteX1" fmla="*/ 425590 w 712983"/>
                <a:gd name="connsiteY1" fmla="*/ 6966 h 736242"/>
                <a:gd name="connsiteX2" fmla="*/ 493060 w 712983"/>
                <a:gd name="connsiteY2" fmla="*/ 163268 h 736242"/>
                <a:gd name="connsiteX3" fmla="*/ 644436 w 712983"/>
                <a:gd name="connsiteY3" fmla="*/ 141325 h 736242"/>
                <a:gd name="connsiteX4" fmla="*/ 661743 w 712983"/>
                <a:gd name="connsiteY4" fmla="*/ 162301 h 736242"/>
                <a:gd name="connsiteX5" fmla="*/ 695683 w 712983"/>
                <a:gd name="connsiteY5" fmla="*/ 224832 h 736242"/>
                <a:gd name="connsiteX6" fmla="*/ 712983 w 712983"/>
                <a:gd name="connsiteY6" fmla="*/ 280561 h 736242"/>
                <a:gd name="connsiteX7" fmla="*/ 629629 w 712983"/>
                <a:gd name="connsiteY7" fmla="*/ 368122 h 736242"/>
                <a:gd name="connsiteX8" fmla="*/ 712982 w 712983"/>
                <a:gd name="connsiteY8" fmla="*/ 455683 h 736242"/>
                <a:gd name="connsiteX9" fmla="*/ 695683 w 712983"/>
                <a:gd name="connsiteY9" fmla="*/ 511411 h 736242"/>
                <a:gd name="connsiteX10" fmla="*/ 661743 w 712983"/>
                <a:gd name="connsiteY10" fmla="*/ 573941 h 736242"/>
                <a:gd name="connsiteX11" fmla="*/ 644435 w 712983"/>
                <a:gd name="connsiteY11" fmla="*/ 594919 h 736242"/>
                <a:gd name="connsiteX12" fmla="*/ 493060 w 712983"/>
                <a:gd name="connsiteY12" fmla="*/ 572975 h 736242"/>
                <a:gd name="connsiteX13" fmla="*/ 425590 w 712983"/>
                <a:gd name="connsiteY13" fmla="*/ 729276 h 736242"/>
                <a:gd name="connsiteX14" fmla="*/ 356491 w 712983"/>
                <a:gd name="connsiteY14" fmla="*/ 736242 h 736242"/>
                <a:gd name="connsiteX15" fmla="*/ 287394 w 712983"/>
                <a:gd name="connsiteY15" fmla="*/ 729277 h 736242"/>
                <a:gd name="connsiteX16" fmla="*/ 219923 w 712983"/>
                <a:gd name="connsiteY16" fmla="*/ 572975 h 736242"/>
                <a:gd name="connsiteX17" fmla="*/ 68548 w 712983"/>
                <a:gd name="connsiteY17" fmla="*/ 594919 h 736242"/>
                <a:gd name="connsiteX18" fmla="*/ 51239 w 712983"/>
                <a:gd name="connsiteY18" fmla="*/ 573941 h 736242"/>
                <a:gd name="connsiteX19" fmla="*/ 17299 w 712983"/>
                <a:gd name="connsiteY19" fmla="*/ 511411 h 736242"/>
                <a:gd name="connsiteX20" fmla="*/ 0 w 712983"/>
                <a:gd name="connsiteY20" fmla="*/ 455684 h 736242"/>
                <a:gd name="connsiteX21" fmla="*/ 83354 w 712983"/>
                <a:gd name="connsiteY21" fmla="*/ 368122 h 736242"/>
                <a:gd name="connsiteX22" fmla="*/ 0 w 712983"/>
                <a:gd name="connsiteY22" fmla="*/ 280560 h 736242"/>
                <a:gd name="connsiteX23" fmla="*/ 17299 w 712983"/>
                <a:gd name="connsiteY23" fmla="*/ 224832 h 736242"/>
                <a:gd name="connsiteX24" fmla="*/ 51239 w 712983"/>
                <a:gd name="connsiteY24" fmla="*/ 162301 h 736242"/>
                <a:gd name="connsiteX25" fmla="*/ 68547 w 712983"/>
                <a:gd name="connsiteY25" fmla="*/ 141324 h 736242"/>
                <a:gd name="connsiteX26" fmla="*/ 219923 w 712983"/>
                <a:gd name="connsiteY26" fmla="*/ 163268 h 736242"/>
                <a:gd name="connsiteX27" fmla="*/ 287394 w 712983"/>
                <a:gd name="connsiteY27" fmla="*/ 6966 h 736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712983" h="736242">
                  <a:moveTo>
                    <a:pt x="356491" y="0"/>
                  </a:moveTo>
                  <a:lnTo>
                    <a:pt x="425590" y="6966"/>
                  </a:lnTo>
                  <a:lnTo>
                    <a:pt x="493060" y="163268"/>
                  </a:lnTo>
                  <a:lnTo>
                    <a:pt x="644436" y="141325"/>
                  </a:lnTo>
                  <a:lnTo>
                    <a:pt x="661743" y="162301"/>
                  </a:lnTo>
                  <a:cubicBezTo>
                    <a:pt x="674974" y="181885"/>
                    <a:pt x="686369" y="202811"/>
                    <a:pt x="695683" y="224832"/>
                  </a:cubicBezTo>
                  <a:lnTo>
                    <a:pt x="712983" y="280561"/>
                  </a:lnTo>
                  <a:lnTo>
                    <a:pt x="629629" y="368122"/>
                  </a:lnTo>
                  <a:lnTo>
                    <a:pt x="712982" y="455683"/>
                  </a:lnTo>
                  <a:lnTo>
                    <a:pt x="695683" y="511411"/>
                  </a:lnTo>
                  <a:cubicBezTo>
                    <a:pt x="686369" y="533431"/>
                    <a:pt x="674974" y="554357"/>
                    <a:pt x="661743" y="573941"/>
                  </a:cubicBezTo>
                  <a:lnTo>
                    <a:pt x="644435" y="594919"/>
                  </a:lnTo>
                  <a:lnTo>
                    <a:pt x="493060" y="572975"/>
                  </a:lnTo>
                  <a:lnTo>
                    <a:pt x="425590" y="729276"/>
                  </a:lnTo>
                  <a:lnTo>
                    <a:pt x="356491" y="736242"/>
                  </a:lnTo>
                  <a:lnTo>
                    <a:pt x="287394" y="729277"/>
                  </a:lnTo>
                  <a:lnTo>
                    <a:pt x="219923" y="572975"/>
                  </a:lnTo>
                  <a:lnTo>
                    <a:pt x="68548" y="594919"/>
                  </a:lnTo>
                  <a:lnTo>
                    <a:pt x="51239" y="573941"/>
                  </a:lnTo>
                  <a:cubicBezTo>
                    <a:pt x="38009" y="554357"/>
                    <a:pt x="26613" y="533431"/>
                    <a:pt x="17299" y="511411"/>
                  </a:cubicBezTo>
                  <a:lnTo>
                    <a:pt x="0" y="455684"/>
                  </a:lnTo>
                  <a:lnTo>
                    <a:pt x="83354" y="368122"/>
                  </a:lnTo>
                  <a:lnTo>
                    <a:pt x="0" y="280560"/>
                  </a:lnTo>
                  <a:lnTo>
                    <a:pt x="17299" y="224832"/>
                  </a:lnTo>
                  <a:cubicBezTo>
                    <a:pt x="26613" y="202811"/>
                    <a:pt x="38009" y="181885"/>
                    <a:pt x="51239" y="162301"/>
                  </a:cubicBezTo>
                  <a:lnTo>
                    <a:pt x="68547" y="141324"/>
                  </a:lnTo>
                  <a:lnTo>
                    <a:pt x="219923" y="163268"/>
                  </a:lnTo>
                  <a:lnTo>
                    <a:pt x="287394" y="6966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253020" y="5080725"/>
              <a:ext cx="332887" cy="33198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Freeform 18"/>
          <p:cNvSpPr/>
          <p:nvPr/>
        </p:nvSpPr>
        <p:spPr>
          <a:xfrm>
            <a:off x="10061042" y="4964151"/>
            <a:ext cx="388474" cy="401147"/>
          </a:xfrm>
          <a:custGeom>
            <a:avLst/>
            <a:gdLst>
              <a:gd name="connsiteX0" fmla="*/ 356491 w 712983"/>
              <a:gd name="connsiteY0" fmla="*/ 0 h 736242"/>
              <a:gd name="connsiteX1" fmla="*/ 425590 w 712983"/>
              <a:gd name="connsiteY1" fmla="*/ 6966 h 736242"/>
              <a:gd name="connsiteX2" fmla="*/ 493060 w 712983"/>
              <a:gd name="connsiteY2" fmla="*/ 163268 h 736242"/>
              <a:gd name="connsiteX3" fmla="*/ 644436 w 712983"/>
              <a:gd name="connsiteY3" fmla="*/ 141325 h 736242"/>
              <a:gd name="connsiteX4" fmla="*/ 661743 w 712983"/>
              <a:gd name="connsiteY4" fmla="*/ 162301 h 736242"/>
              <a:gd name="connsiteX5" fmla="*/ 695683 w 712983"/>
              <a:gd name="connsiteY5" fmla="*/ 224832 h 736242"/>
              <a:gd name="connsiteX6" fmla="*/ 712983 w 712983"/>
              <a:gd name="connsiteY6" fmla="*/ 280561 h 736242"/>
              <a:gd name="connsiteX7" fmla="*/ 629629 w 712983"/>
              <a:gd name="connsiteY7" fmla="*/ 368122 h 736242"/>
              <a:gd name="connsiteX8" fmla="*/ 712982 w 712983"/>
              <a:gd name="connsiteY8" fmla="*/ 455683 h 736242"/>
              <a:gd name="connsiteX9" fmla="*/ 695683 w 712983"/>
              <a:gd name="connsiteY9" fmla="*/ 511411 h 736242"/>
              <a:gd name="connsiteX10" fmla="*/ 661743 w 712983"/>
              <a:gd name="connsiteY10" fmla="*/ 573941 h 736242"/>
              <a:gd name="connsiteX11" fmla="*/ 644435 w 712983"/>
              <a:gd name="connsiteY11" fmla="*/ 594919 h 736242"/>
              <a:gd name="connsiteX12" fmla="*/ 493060 w 712983"/>
              <a:gd name="connsiteY12" fmla="*/ 572975 h 736242"/>
              <a:gd name="connsiteX13" fmla="*/ 425590 w 712983"/>
              <a:gd name="connsiteY13" fmla="*/ 729276 h 736242"/>
              <a:gd name="connsiteX14" fmla="*/ 356491 w 712983"/>
              <a:gd name="connsiteY14" fmla="*/ 736242 h 736242"/>
              <a:gd name="connsiteX15" fmla="*/ 287394 w 712983"/>
              <a:gd name="connsiteY15" fmla="*/ 729277 h 736242"/>
              <a:gd name="connsiteX16" fmla="*/ 219923 w 712983"/>
              <a:gd name="connsiteY16" fmla="*/ 572975 h 736242"/>
              <a:gd name="connsiteX17" fmla="*/ 68548 w 712983"/>
              <a:gd name="connsiteY17" fmla="*/ 594919 h 736242"/>
              <a:gd name="connsiteX18" fmla="*/ 51239 w 712983"/>
              <a:gd name="connsiteY18" fmla="*/ 573941 h 736242"/>
              <a:gd name="connsiteX19" fmla="*/ 17299 w 712983"/>
              <a:gd name="connsiteY19" fmla="*/ 511411 h 736242"/>
              <a:gd name="connsiteX20" fmla="*/ 0 w 712983"/>
              <a:gd name="connsiteY20" fmla="*/ 455684 h 736242"/>
              <a:gd name="connsiteX21" fmla="*/ 83354 w 712983"/>
              <a:gd name="connsiteY21" fmla="*/ 368122 h 736242"/>
              <a:gd name="connsiteX22" fmla="*/ 0 w 712983"/>
              <a:gd name="connsiteY22" fmla="*/ 280560 h 736242"/>
              <a:gd name="connsiteX23" fmla="*/ 17299 w 712983"/>
              <a:gd name="connsiteY23" fmla="*/ 224832 h 736242"/>
              <a:gd name="connsiteX24" fmla="*/ 51239 w 712983"/>
              <a:gd name="connsiteY24" fmla="*/ 162301 h 736242"/>
              <a:gd name="connsiteX25" fmla="*/ 68547 w 712983"/>
              <a:gd name="connsiteY25" fmla="*/ 141324 h 736242"/>
              <a:gd name="connsiteX26" fmla="*/ 219923 w 712983"/>
              <a:gd name="connsiteY26" fmla="*/ 163268 h 736242"/>
              <a:gd name="connsiteX27" fmla="*/ 287394 w 712983"/>
              <a:gd name="connsiteY27" fmla="*/ 6966 h 736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12983" h="736242">
                <a:moveTo>
                  <a:pt x="356491" y="0"/>
                </a:moveTo>
                <a:lnTo>
                  <a:pt x="425590" y="6966"/>
                </a:lnTo>
                <a:lnTo>
                  <a:pt x="493060" y="163268"/>
                </a:lnTo>
                <a:lnTo>
                  <a:pt x="644436" y="141325"/>
                </a:lnTo>
                <a:lnTo>
                  <a:pt x="661743" y="162301"/>
                </a:lnTo>
                <a:cubicBezTo>
                  <a:pt x="674974" y="181885"/>
                  <a:pt x="686369" y="202811"/>
                  <a:pt x="695683" y="224832"/>
                </a:cubicBezTo>
                <a:lnTo>
                  <a:pt x="712983" y="280561"/>
                </a:lnTo>
                <a:lnTo>
                  <a:pt x="629629" y="368122"/>
                </a:lnTo>
                <a:lnTo>
                  <a:pt x="712982" y="455683"/>
                </a:lnTo>
                <a:lnTo>
                  <a:pt x="695683" y="511411"/>
                </a:lnTo>
                <a:cubicBezTo>
                  <a:pt x="686369" y="533431"/>
                  <a:pt x="674974" y="554357"/>
                  <a:pt x="661743" y="573941"/>
                </a:cubicBezTo>
                <a:lnTo>
                  <a:pt x="644435" y="594919"/>
                </a:lnTo>
                <a:lnTo>
                  <a:pt x="493060" y="572975"/>
                </a:lnTo>
                <a:lnTo>
                  <a:pt x="425590" y="729276"/>
                </a:lnTo>
                <a:lnTo>
                  <a:pt x="356491" y="736242"/>
                </a:lnTo>
                <a:lnTo>
                  <a:pt x="287394" y="729277"/>
                </a:lnTo>
                <a:lnTo>
                  <a:pt x="219923" y="572975"/>
                </a:lnTo>
                <a:lnTo>
                  <a:pt x="68548" y="594919"/>
                </a:lnTo>
                <a:lnTo>
                  <a:pt x="51239" y="573941"/>
                </a:lnTo>
                <a:cubicBezTo>
                  <a:pt x="38009" y="554357"/>
                  <a:pt x="26613" y="533431"/>
                  <a:pt x="17299" y="511411"/>
                </a:cubicBezTo>
                <a:lnTo>
                  <a:pt x="0" y="455684"/>
                </a:lnTo>
                <a:lnTo>
                  <a:pt x="83354" y="368122"/>
                </a:lnTo>
                <a:lnTo>
                  <a:pt x="0" y="280560"/>
                </a:lnTo>
                <a:lnTo>
                  <a:pt x="17299" y="224832"/>
                </a:lnTo>
                <a:cubicBezTo>
                  <a:pt x="26613" y="202811"/>
                  <a:pt x="38009" y="181885"/>
                  <a:pt x="51239" y="162301"/>
                </a:cubicBezTo>
                <a:lnTo>
                  <a:pt x="68547" y="141324"/>
                </a:lnTo>
                <a:lnTo>
                  <a:pt x="219923" y="163268"/>
                </a:lnTo>
                <a:lnTo>
                  <a:pt x="287394" y="696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0159473" y="5066291"/>
            <a:ext cx="181376" cy="18088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7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70833E-6 3.7037E-6 L 0.02956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56 -0.00093 L 0.15677 -0.0009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77 -0.00093 L 0.27709 -0.0009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709 -0.00093 L 0.27748 -0.15255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748 -0.15255 L 0.32748 -0.15255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748 -0.15255 L 0.32591 -0.0581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23" t="13997" r="30308" b="39524"/>
          <a:stretch/>
        </p:blipFill>
        <p:spPr>
          <a:xfrm>
            <a:off x="1803044" y="1700011"/>
            <a:ext cx="1988614" cy="10174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212" y="379926"/>
            <a:ext cx="6191250" cy="3657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32" t="18664" r="15720" b="47886"/>
          <a:stretch/>
        </p:blipFill>
        <p:spPr>
          <a:xfrm>
            <a:off x="4198512" y="3400023"/>
            <a:ext cx="721217" cy="12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8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DD6195E-CA80-E222-ACAD-C71E92262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05" r="6610" b="6169"/>
          <a:stretch/>
        </p:blipFill>
        <p:spPr>
          <a:xfrm>
            <a:off x="142875" y="400959"/>
            <a:ext cx="11964688" cy="566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45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07191" y="856342"/>
            <a:ext cx="10062949" cy="3246954"/>
            <a:chOff x="407191" y="856342"/>
            <a:chExt cx="10062949" cy="3246954"/>
          </a:xfrm>
        </p:grpSpPr>
        <p:grpSp>
          <p:nvGrpSpPr>
            <p:cNvPr id="5" name="Group 4"/>
            <p:cNvGrpSpPr/>
            <p:nvPr/>
          </p:nvGrpSpPr>
          <p:grpSpPr>
            <a:xfrm>
              <a:off x="8240290" y="856342"/>
              <a:ext cx="1301320" cy="2140223"/>
              <a:chOff x="8010974" y="657086"/>
              <a:chExt cx="1301320" cy="2140223"/>
            </a:xfrm>
          </p:grpSpPr>
          <p:pic>
            <p:nvPicPr>
              <p:cNvPr id="8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5968" t="47057" r="-745" b="28313"/>
              <a:stretch/>
            </p:blipFill>
            <p:spPr bwMode="auto">
              <a:xfrm>
                <a:off x="9012283" y="985883"/>
                <a:ext cx="300011" cy="500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 r="60146"/>
              <a:stretch/>
            </p:blipFill>
            <p:spPr bwMode="auto">
              <a:xfrm>
                <a:off x="8010974" y="657086"/>
                <a:ext cx="1056826" cy="2140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TextBox 11"/>
            <p:cNvSpPr txBox="1"/>
            <p:nvPr/>
          </p:nvSpPr>
          <p:spPr>
            <a:xfrm>
              <a:off x="8013057" y="2682772"/>
              <a:ext cx="24570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Worker going to the Conveyor Line</a:t>
              </a:r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407191" y="856342"/>
              <a:ext cx="6366430" cy="2579297"/>
              <a:chOff x="407191" y="856342"/>
              <a:chExt cx="6366430" cy="25792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xmlns="" id="{0DD6195E-CA80-E222-ACAD-C71E92262B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4305" t="6099" r="85844" b="65060"/>
              <a:stretch/>
            </p:blipFill>
            <p:spPr>
              <a:xfrm>
                <a:off x="491218" y="856342"/>
                <a:ext cx="1323068" cy="1741715"/>
              </a:xfrm>
              <a:prstGeom prst="rect">
                <a:avLst/>
              </a:prstGeom>
            </p:spPr>
          </p:pic>
          <p:pic>
            <p:nvPicPr>
              <p:cNvPr id="1026" name="Picture 2" descr="https://o.remove.bg/downloads/86b6238f-c794-46a6-ada4-f6431caacad8/DALL_E_2023-05-18_16.28.41_-_a_factory_person_carrying_bulbs_in_trolley_animated-removebg-preview.png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291"/>
              <a:stretch/>
            </p:blipFill>
            <p:spPr bwMode="auto">
              <a:xfrm>
                <a:off x="4121861" y="856342"/>
                <a:ext cx="2651760" cy="21402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xmlns="" id="{0DD6195E-CA80-E222-ACAD-C71E92262B3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11076" t="33377" r="84385" b="55567"/>
              <a:stretch/>
            </p:blipFill>
            <p:spPr>
              <a:xfrm rot="16200000">
                <a:off x="3313145" y="1393370"/>
                <a:ext cx="609601" cy="667657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4316538" y="2673399"/>
                <a:ext cx="24570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Worker carrying Item in trolley</a:t>
                </a:r>
                <a:endParaRPr lang="en-US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07191" y="2789308"/>
                <a:ext cx="273934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Authorized User </a:t>
                </a:r>
                <a:br>
                  <a:rPr lang="en-US" dirty="0" smtClean="0"/>
                </a:br>
                <a:r>
                  <a:rPr lang="en-US" dirty="0" smtClean="0"/>
                  <a:t>starting the Production line</a:t>
                </a:r>
                <a:endParaRPr lang="en-US" dirty="0"/>
              </a:p>
            </p:txBody>
          </p:sp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076" t="33377" r="84385" b="55567"/>
            <a:stretch/>
          </p:blipFill>
          <p:spPr>
            <a:xfrm rot="16200000">
              <a:off x="7202155" y="1393369"/>
              <a:ext cx="609601" cy="66765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xmlns="" id="{0DD6195E-CA80-E222-ACAD-C71E92262B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1076" t="33377" r="84385" b="55567"/>
            <a:stretch/>
          </p:blipFill>
          <p:spPr>
            <a:xfrm>
              <a:off x="8631997" y="3435639"/>
              <a:ext cx="609601" cy="667657"/>
            </a:xfrm>
            <a:prstGeom prst="rect">
              <a:avLst/>
            </a:prstGeom>
          </p:spPr>
        </p:pic>
      </p:grpSp>
      <p:pic>
        <p:nvPicPr>
          <p:cNvPr id="15" name="Picture 2" descr="https://o.remove.bg/downloads/86b6238f-c794-46a6-ada4-f6431caacad8/DALL_E_2023-05-18_16.28.41_-_a_factory_person_carrying_bulbs_in_trolley_animated-removebg-preview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91" r="60146"/>
          <a:stretch/>
        </p:blipFill>
        <p:spPr bwMode="auto">
          <a:xfrm flipH="1">
            <a:off x="2517100" y="1261680"/>
            <a:ext cx="856673" cy="173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27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479</Words>
  <Application>Microsoft Office PowerPoint</Application>
  <PresentationFormat>Widescreen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BCIL</dc:creator>
  <cp:lastModifiedBy>BCIL</cp:lastModifiedBy>
  <cp:revision>71</cp:revision>
  <dcterms:created xsi:type="dcterms:W3CDTF">2023-05-18T04:27:48Z</dcterms:created>
  <dcterms:modified xsi:type="dcterms:W3CDTF">2023-05-24T11:54:40Z</dcterms:modified>
</cp:coreProperties>
</file>